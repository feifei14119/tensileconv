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026" r:id="rId5"/>
  </p:sldMasterIdLst>
  <p:notesMasterIdLst>
    <p:notesMasterId r:id="rId16"/>
  </p:notesMasterIdLst>
  <p:handoutMasterIdLst>
    <p:handoutMasterId r:id="rId17"/>
  </p:handoutMasterIdLst>
  <p:sldIdLst>
    <p:sldId id="298" r:id="rId6"/>
    <p:sldId id="272" r:id="rId7"/>
    <p:sldId id="383" r:id="rId8"/>
    <p:sldId id="388" r:id="rId9"/>
    <p:sldId id="387" r:id="rId10"/>
    <p:sldId id="389" r:id="rId11"/>
    <p:sldId id="386" r:id="rId12"/>
    <p:sldId id="392" r:id="rId13"/>
    <p:sldId id="391" r:id="rId14"/>
    <p:sldId id="390" r:id="rId15"/>
  </p:sldIdLst>
  <p:sldSz cx="12188825" cy="6858000"/>
  <p:notesSz cx="7102475" cy="9388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13">
          <p15:clr>
            <a:srgbClr val="A4A3A4"/>
          </p15:clr>
        </p15:guide>
        <p15:guide id="2" pos="3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1C24"/>
    <a:srgbClr val="F2F2F2"/>
    <a:srgbClr val="00AAB5"/>
    <a:srgbClr val="767DC5"/>
    <a:srgbClr val="F26522"/>
    <a:srgbClr val="A6CE39"/>
    <a:srgbClr val="F1FCFD"/>
    <a:srgbClr val="D6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7" autoAdjust="0"/>
    <p:restoredTop sz="94291" autoAdjust="0"/>
  </p:normalViewPr>
  <p:slideViewPr>
    <p:cSldViewPr snapToGrid="0" snapToObjects="1">
      <p:cViewPr varScale="1">
        <p:scale>
          <a:sx n="80" d="100"/>
          <a:sy n="80" d="100"/>
        </p:scale>
        <p:origin x="124" y="44"/>
      </p:cViewPr>
      <p:guideLst>
        <p:guide orient="horz" pos="413"/>
        <p:guide pos="3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>
        <p:scale>
          <a:sx n="190" d="100"/>
          <a:sy n="190" d="100"/>
        </p:scale>
        <p:origin x="-96" y="3222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iw\source\repos\conv\doc\conv1x1&#24615;&#3302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iw\source\repos\conv\doc\conv1x1&#24615;&#3302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iw\source\repos\conv\doc\conv1x1&#24615;&#3302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iw\source\repos\conv\doc\conv1x1&#24615;&#3302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diff</a:t>
            </a:r>
            <a:r>
              <a:rPr lang="en-US" baseline="0" dirty="0"/>
              <a:t> time (us)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Fiji!$H$2:$H$22</c:f>
              <c:numCache>
                <c:formatCode>General</c:formatCode>
                <c:ptCount val="21"/>
                <c:pt idx="0">
                  <c:v>26.42179999999999</c:v>
                </c:pt>
                <c:pt idx="1">
                  <c:v>7.3249999999999993</c:v>
                </c:pt>
                <c:pt idx="2">
                  <c:v>24.741099999999996</c:v>
                </c:pt>
                <c:pt idx="3">
                  <c:v>6.8364999999999938</c:v>
                </c:pt>
                <c:pt idx="4">
                  <c:v>22.323999999999998</c:v>
                </c:pt>
                <c:pt idx="5">
                  <c:v>27.187999999999988</c:v>
                </c:pt>
                <c:pt idx="6">
                  <c:v>20.662800000000004</c:v>
                </c:pt>
                <c:pt idx="7">
                  <c:v>1.0108999999999995</c:v>
                </c:pt>
                <c:pt idx="8">
                  <c:v>2.9939000000000036</c:v>
                </c:pt>
                <c:pt idx="9">
                  <c:v>4.1257999999999981</c:v>
                </c:pt>
                <c:pt idx="10">
                  <c:v>8.3811999999999998</c:v>
                </c:pt>
                <c:pt idx="11">
                  <c:v>-18.186700000000002</c:v>
                </c:pt>
                <c:pt idx="12">
                  <c:v>-8.1510000000000105</c:v>
                </c:pt>
                <c:pt idx="13">
                  <c:v>-4.0550000000000637</c:v>
                </c:pt>
                <c:pt idx="14">
                  <c:v>38.348699999999994</c:v>
                </c:pt>
                <c:pt idx="15">
                  <c:v>12.339500000000001</c:v>
                </c:pt>
                <c:pt idx="16">
                  <c:v>-7.6779999999999973</c:v>
                </c:pt>
                <c:pt idx="17">
                  <c:v>2.2229999999999848</c:v>
                </c:pt>
                <c:pt idx="18">
                  <c:v>8.228999999999985</c:v>
                </c:pt>
                <c:pt idx="19">
                  <c:v>21.992800000000003</c:v>
                </c:pt>
                <c:pt idx="20">
                  <c:v>44.769000000000005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2F-453F-BA7D-F7DB91F38C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1979640"/>
        <c:axId val="511969800"/>
      </c:barChart>
      <c:catAx>
        <c:axId val="5119796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969800"/>
        <c:crosses val="autoZero"/>
        <c:auto val="1"/>
        <c:lblAlgn val="ctr"/>
        <c:lblOffset val="100"/>
        <c:noMultiLvlLbl val="0"/>
      </c:catAx>
      <c:valAx>
        <c:axId val="511969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1979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diff time (us)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Vega64!$I$2:$I$30</c:f>
              <c:numCache>
                <c:formatCode>General</c:formatCode>
                <c:ptCount val="29"/>
                <c:pt idx="0">
                  <c:v>11.047000000000004</c:v>
                </c:pt>
                <c:pt idx="1">
                  <c:v>4.5250000000000057</c:v>
                </c:pt>
                <c:pt idx="2">
                  <c:v>77.593000000000018</c:v>
                </c:pt>
                <c:pt idx="3">
                  <c:v>11.483999999999998</c:v>
                </c:pt>
                <c:pt idx="4">
                  <c:v>5.0290000000000035</c:v>
                </c:pt>
                <c:pt idx="5">
                  <c:v>28.579999999999984</c:v>
                </c:pt>
                <c:pt idx="6">
                  <c:v>17.356000000000002</c:v>
                </c:pt>
                <c:pt idx="7">
                  <c:v>44.876000000000005</c:v>
                </c:pt>
                <c:pt idx="8">
                  <c:v>29.016999999999996</c:v>
                </c:pt>
                <c:pt idx="9">
                  <c:v>26.593000000000018</c:v>
                </c:pt>
                <c:pt idx="10">
                  <c:v>52.765999999999963</c:v>
                </c:pt>
                <c:pt idx="11">
                  <c:v>11.626000000000005</c:v>
                </c:pt>
                <c:pt idx="12">
                  <c:v>7.3249999999999886</c:v>
                </c:pt>
                <c:pt idx="13">
                  <c:v>11.027000000000005</c:v>
                </c:pt>
                <c:pt idx="14">
                  <c:v>11.780999999999992</c:v>
                </c:pt>
                <c:pt idx="15">
                  <c:v>-20.734000000000009</c:v>
                </c:pt>
                <c:pt idx="16">
                  <c:v>4.8039999999999985</c:v>
                </c:pt>
                <c:pt idx="17">
                  <c:v>18.436999999999991</c:v>
                </c:pt>
                <c:pt idx="18">
                  <c:v>17.373999999999995</c:v>
                </c:pt>
                <c:pt idx="19">
                  <c:v>8.1930000000000049</c:v>
                </c:pt>
                <c:pt idx="20">
                  <c:v>33.387</c:v>
                </c:pt>
                <c:pt idx="21">
                  <c:v>23.72999999999999</c:v>
                </c:pt>
                <c:pt idx="22">
                  <c:v>11.175000000000004</c:v>
                </c:pt>
                <c:pt idx="23">
                  <c:v>15.046999999999997</c:v>
                </c:pt>
                <c:pt idx="24">
                  <c:v>27.302000000000021</c:v>
                </c:pt>
                <c:pt idx="25">
                  <c:v>28.426999999999964</c:v>
                </c:pt>
                <c:pt idx="26">
                  <c:v>-40.307999999999993</c:v>
                </c:pt>
                <c:pt idx="27">
                  <c:v>19.74799999999999</c:v>
                </c:pt>
                <c:pt idx="28">
                  <c:v>16.362000000000023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AF-4FBA-BE68-C3010F8BDA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2010864"/>
        <c:axId val="522012504"/>
      </c:barChart>
      <c:catAx>
        <c:axId val="5220108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2012504"/>
        <c:crosses val="autoZero"/>
        <c:auto val="1"/>
        <c:lblAlgn val="ctr"/>
        <c:lblOffset val="100"/>
        <c:noMultiLvlLbl val="0"/>
      </c:catAx>
      <c:valAx>
        <c:axId val="522012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2010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Search Time 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Genetic!$C$1</c:f>
              <c:strCache>
                <c:ptCount val="1"/>
                <c:pt idx="0">
                  <c:v>brust search time(s)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Genetic!$C$2:$C$11</c:f>
              <c:numCache>
                <c:formatCode>General</c:formatCode>
                <c:ptCount val="10"/>
                <c:pt idx="0">
                  <c:v>146</c:v>
                </c:pt>
                <c:pt idx="1">
                  <c:v>119</c:v>
                </c:pt>
                <c:pt idx="2">
                  <c:v>118</c:v>
                </c:pt>
                <c:pt idx="3">
                  <c:v>124</c:v>
                </c:pt>
                <c:pt idx="4">
                  <c:v>123</c:v>
                </c:pt>
                <c:pt idx="5">
                  <c:v>107</c:v>
                </c:pt>
                <c:pt idx="6">
                  <c:v>133</c:v>
                </c:pt>
                <c:pt idx="7">
                  <c:v>126</c:v>
                </c:pt>
                <c:pt idx="8">
                  <c:v>195</c:v>
                </c:pt>
                <c:pt idx="9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52-4991-87E6-F7B5873E08CA}"/>
            </c:ext>
          </c:extLst>
        </c:ser>
        <c:ser>
          <c:idx val="1"/>
          <c:order val="1"/>
          <c:tx>
            <c:strRef>
              <c:f>Genetic!$D$1</c:f>
              <c:strCache>
                <c:ptCount val="1"/>
                <c:pt idx="0">
                  <c:v>gene search time(s)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Genetic!$D$2:$D$11</c:f>
              <c:numCache>
                <c:formatCode>General</c:formatCode>
                <c:ptCount val="10"/>
                <c:pt idx="0">
                  <c:v>38</c:v>
                </c:pt>
                <c:pt idx="1">
                  <c:v>29</c:v>
                </c:pt>
                <c:pt idx="2">
                  <c:v>28</c:v>
                </c:pt>
                <c:pt idx="3">
                  <c:v>32</c:v>
                </c:pt>
                <c:pt idx="4">
                  <c:v>31</c:v>
                </c:pt>
                <c:pt idx="5">
                  <c:v>27</c:v>
                </c:pt>
                <c:pt idx="6">
                  <c:v>38</c:v>
                </c:pt>
                <c:pt idx="7">
                  <c:v>32</c:v>
                </c:pt>
                <c:pt idx="8">
                  <c:v>51</c:v>
                </c:pt>
                <c:pt idx="9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52-4991-87E6-F7B5873E0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31442160"/>
        <c:axId val="531443472"/>
      </c:barChart>
      <c:catAx>
        <c:axId val="5314421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443472"/>
        <c:crosses val="autoZero"/>
        <c:auto val="1"/>
        <c:lblAlgn val="ctr"/>
        <c:lblOffset val="100"/>
        <c:noMultiLvlLbl val="0"/>
      </c:catAx>
      <c:valAx>
        <c:axId val="53144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442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Performence(%)</a:t>
            </a:r>
          </a:p>
        </c:rich>
      </c:tx>
      <c:layout>
        <c:manualLayout>
          <c:xMode val="edge"/>
          <c:yMode val="edge"/>
          <c:x val="0.38968744531933502"/>
          <c:y val="2.31481481481481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Genetic!$E$1</c:f>
              <c:strCache>
                <c:ptCount val="1"/>
                <c:pt idx="0">
                  <c:v>brust perf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Genetic!$E$2:$E$11</c:f>
              <c:numCache>
                <c:formatCode>0.00%</c:formatCode>
                <c:ptCount val="10"/>
                <c:pt idx="0">
                  <c:v>0.53600000000000003</c:v>
                </c:pt>
                <c:pt idx="1">
                  <c:v>0.46700000000000003</c:v>
                </c:pt>
                <c:pt idx="2">
                  <c:v>0.45300000000000001</c:v>
                </c:pt>
                <c:pt idx="3">
                  <c:v>0.58199999999999996</c:v>
                </c:pt>
                <c:pt idx="4">
                  <c:v>0.49199999999999999</c:v>
                </c:pt>
                <c:pt idx="5">
                  <c:v>0.57999999999999996</c:v>
                </c:pt>
                <c:pt idx="6">
                  <c:v>0.60099999999999998</c:v>
                </c:pt>
                <c:pt idx="7">
                  <c:v>0.58199999999999996</c:v>
                </c:pt>
                <c:pt idx="8">
                  <c:v>0.54400000000000004</c:v>
                </c:pt>
                <c:pt idx="9">
                  <c:v>0.57799999999999996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45-41B0-A414-6AFF5AE56846}"/>
            </c:ext>
          </c:extLst>
        </c:ser>
        <c:ser>
          <c:idx val="1"/>
          <c:order val="1"/>
          <c:tx>
            <c:strRef>
              <c:f>Genetic!$F$1</c:f>
              <c:strCache>
                <c:ptCount val="1"/>
                <c:pt idx="0">
                  <c:v>gene perf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Genetic!$F$2:$F$11</c:f>
              <c:numCache>
                <c:formatCode>0.00%</c:formatCode>
                <c:ptCount val="10"/>
                <c:pt idx="0">
                  <c:v>0.48899999999999999</c:v>
                </c:pt>
                <c:pt idx="1">
                  <c:v>0.46800000000000003</c:v>
                </c:pt>
                <c:pt idx="2">
                  <c:v>0.45200000000000001</c:v>
                </c:pt>
                <c:pt idx="3">
                  <c:v>0.57899999999999996</c:v>
                </c:pt>
                <c:pt idx="4">
                  <c:v>0.496</c:v>
                </c:pt>
                <c:pt idx="5">
                  <c:v>0.57899999999999996</c:v>
                </c:pt>
                <c:pt idx="6">
                  <c:v>0.6</c:v>
                </c:pt>
                <c:pt idx="7">
                  <c:v>0.53100000000000003</c:v>
                </c:pt>
                <c:pt idx="8">
                  <c:v>0.54200000000000004</c:v>
                </c:pt>
                <c:pt idx="9">
                  <c:v>0.57899999999999996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45-41B0-A414-6AFF5AE568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0900016"/>
        <c:axId val="650904280"/>
      </c:barChart>
      <c:catAx>
        <c:axId val="6509000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904280"/>
        <c:crosses val="autoZero"/>
        <c:auto val="1"/>
        <c:lblAlgn val="ctr"/>
        <c:lblOffset val="100"/>
        <c:noMultiLvlLbl val="0"/>
      </c:catAx>
      <c:valAx>
        <c:axId val="650904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900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E7E7BDC-9D46-4501-9BD8-48ABBF76954C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1111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D2C974A-4F33-4C75-8C38-341A58B151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7872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fld id="{F5C75CB6-FC3E-4E76-855D-3C51A5B278B8}" type="datetimeFigureOut">
              <a:rPr lang="en-US"/>
              <a:pPr>
                <a:defRPr/>
              </a:pPr>
              <a:t>3/8/2019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704850"/>
            <a:ext cx="62547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825" y="4483100"/>
            <a:ext cx="6346825" cy="4224338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1111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CBEBED-4F4B-4D80-A512-40924A3BF1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86562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115888" indent="-115888" algn="l" rtl="0" eaLnBrk="0" fontAlgn="base" hangingPunct="0">
      <a:spcBef>
        <a:spcPct val="30000"/>
      </a:spcBef>
      <a:spcAft>
        <a:spcPct val="0"/>
      </a:spcAft>
      <a:buFont typeface="Wingdings 3" panose="05040102010807070707" pitchFamily="18" charset="2"/>
      <a:buChar char="}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406400" indent="-171450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73088" indent="-115888" algn="l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14935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696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28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56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26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62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22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8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16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 3" panose="05040102010807070707" pitchFamily="18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37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0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12"/>
          <p:cNvSpPr/>
          <p:nvPr userDrawn="1"/>
        </p:nvSpPr>
        <p:spPr>
          <a:xfrm>
            <a:off x="-15875" y="3327400"/>
            <a:ext cx="7550150" cy="3554413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682426 w 8260932"/>
              <a:gd name="connsiteY1" fmla="*/ 325590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40907 w 7578507"/>
              <a:gd name="connsiteY0" fmla="*/ 3486646 h 4292220"/>
              <a:gd name="connsiteX1" fmla="*/ 1 w 7578507"/>
              <a:gd name="connsiteY1" fmla="*/ 325590 h 4292220"/>
              <a:gd name="connsiteX2" fmla="*/ 303430 w 7578507"/>
              <a:gd name="connsiteY2" fmla="*/ 0 h 4292220"/>
              <a:gd name="connsiteX3" fmla="*/ 7578507 w 7578507"/>
              <a:gd name="connsiteY3" fmla="*/ 0 h 4292220"/>
              <a:gd name="connsiteX4" fmla="*/ 3321226 w 7578507"/>
              <a:gd name="connsiteY4" fmla="*/ 4292220 h 4292220"/>
              <a:gd name="connsiteX5" fmla="*/ 40907 w 7578507"/>
              <a:gd name="connsiteY5" fmla="*/ 3486646 h 4292220"/>
              <a:gd name="connsiteX0" fmla="*/ 13612 w 7551212"/>
              <a:gd name="connsiteY0" fmla="*/ 3486646 h 4292220"/>
              <a:gd name="connsiteX1" fmla="*/ 1 w 7551212"/>
              <a:gd name="connsiteY1" fmla="*/ 352885 h 4292220"/>
              <a:gd name="connsiteX2" fmla="*/ 276135 w 7551212"/>
              <a:gd name="connsiteY2" fmla="*/ 0 h 4292220"/>
              <a:gd name="connsiteX3" fmla="*/ 7551212 w 7551212"/>
              <a:gd name="connsiteY3" fmla="*/ 0 h 4292220"/>
              <a:gd name="connsiteX4" fmla="*/ 3293931 w 7551212"/>
              <a:gd name="connsiteY4" fmla="*/ 4292220 h 4292220"/>
              <a:gd name="connsiteX5" fmla="*/ 13612 w 7551212"/>
              <a:gd name="connsiteY5" fmla="*/ 3486646 h 4292220"/>
              <a:gd name="connsiteX0" fmla="*/ 13612 w 7551212"/>
              <a:gd name="connsiteY0" fmla="*/ 3486646 h 3555241"/>
              <a:gd name="connsiteX1" fmla="*/ 1 w 7551212"/>
              <a:gd name="connsiteY1" fmla="*/ 352885 h 3555241"/>
              <a:gd name="connsiteX2" fmla="*/ 276135 w 7551212"/>
              <a:gd name="connsiteY2" fmla="*/ 0 h 3555241"/>
              <a:gd name="connsiteX3" fmla="*/ 7551212 w 7551212"/>
              <a:gd name="connsiteY3" fmla="*/ 0 h 3555241"/>
              <a:gd name="connsiteX4" fmla="*/ 3976320 w 7551212"/>
              <a:gd name="connsiteY4" fmla="*/ 3555241 h 3555241"/>
              <a:gd name="connsiteX5" fmla="*/ 13612 w 7551212"/>
              <a:gd name="connsiteY5" fmla="*/ 3486646 h 3555241"/>
              <a:gd name="connsiteX0" fmla="*/ 13612 w 7551212"/>
              <a:gd name="connsiteY0" fmla="*/ 3568532 h 3568532"/>
              <a:gd name="connsiteX1" fmla="*/ 1 w 7551212"/>
              <a:gd name="connsiteY1" fmla="*/ 352885 h 3568532"/>
              <a:gd name="connsiteX2" fmla="*/ 276135 w 7551212"/>
              <a:gd name="connsiteY2" fmla="*/ 0 h 3568532"/>
              <a:gd name="connsiteX3" fmla="*/ 7551212 w 7551212"/>
              <a:gd name="connsiteY3" fmla="*/ 0 h 3568532"/>
              <a:gd name="connsiteX4" fmla="*/ 3976320 w 7551212"/>
              <a:gd name="connsiteY4" fmla="*/ 3555241 h 3568532"/>
              <a:gd name="connsiteX5" fmla="*/ 13612 w 7551212"/>
              <a:gd name="connsiteY5" fmla="*/ 3568532 h 3568532"/>
              <a:gd name="connsiteX0" fmla="*/ 0 w 7619487"/>
              <a:gd name="connsiteY0" fmla="*/ 3759601 h 3759601"/>
              <a:gd name="connsiteX1" fmla="*/ 68276 w 7619487"/>
              <a:gd name="connsiteY1" fmla="*/ 352885 h 3759601"/>
              <a:gd name="connsiteX2" fmla="*/ 344410 w 7619487"/>
              <a:gd name="connsiteY2" fmla="*/ 0 h 3759601"/>
              <a:gd name="connsiteX3" fmla="*/ 7619487 w 7619487"/>
              <a:gd name="connsiteY3" fmla="*/ 0 h 3759601"/>
              <a:gd name="connsiteX4" fmla="*/ 4044595 w 7619487"/>
              <a:gd name="connsiteY4" fmla="*/ 3555241 h 3759601"/>
              <a:gd name="connsiteX5" fmla="*/ 0 w 7619487"/>
              <a:gd name="connsiteY5" fmla="*/ 3759601 h 3759601"/>
              <a:gd name="connsiteX0" fmla="*/ 0 w 7947034"/>
              <a:gd name="connsiteY0" fmla="*/ 3991612 h 3991612"/>
              <a:gd name="connsiteX1" fmla="*/ 395823 w 7947034"/>
              <a:gd name="connsiteY1" fmla="*/ 352885 h 3991612"/>
              <a:gd name="connsiteX2" fmla="*/ 671957 w 7947034"/>
              <a:gd name="connsiteY2" fmla="*/ 0 h 3991612"/>
              <a:gd name="connsiteX3" fmla="*/ 7947034 w 7947034"/>
              <a:gd name="connsiteY3" fmla="*/ 0 h 3991612"/>
              <a:gd name="connsiteX4" fmla="*/ 4372142 w 7947034"/>
              <a:gd name="connsiteY4" fmla="*/ 3555241 h 3991612"/>
              <a:gd name="connsiteX5" fmla="*/ 0 w 7947034"/>
              <a:gd name="connsiteY5" fmla="*/ 3991612 h 3991612"/>
              <a:gd name="connsiteX0" fmla="*/ 0 w 7551249"/>
              <a:gd name="connsiteY0" fmla="*/ 3554884 h 3555241"/>
              <a:gd name="connsiteX1" fmla="*/ 38 w 7551249"/>
              <a:gd name="connsiteY1" fmla="*/ 352885 h 3555241"/>
              <a:gd name="connsiteX2" fmla="*/ 276172 w 7551249"/>
              <a:gd name="connsiteY2" fmla="*/ 0 h 3555241"/>
              <a:gd name="connsiteX3" fmla="*/ 7551249 w 7551249"/>
              <a:gd name="connsiteY3" fmla="*/ 0 h 3555241"/>
              <a:gd name="connsiteX4" fmla="*/ 3976357 w 7551249"/>
              <a:gd name="connsiteY4" fmla="*/ 3555241 h 3555241"/>
              <a:gd name="connsiteX5" fmla="*/ 0 w 7551249"/>
              <a:gd name="connsiteY5" fmla="*/ 3554884 h 3555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249" h="3555241">
                <a:moveTo>
                  <a:pt x="0" y="3554884"/>
                </a:moveTo>
                <a:cubicBezTo>
                  <a:pt x="13" y="2455706"/>
                  <a:pt x="25" y="1452063"/>
                  <a:pt x="38" y="352885"/>
                </a:cubicBezTo>
                <a:lnTo>
                  <a:pt x="276172" y="0"/>
                </a:lnTo>
                <a:lnTo>
                  <a:pt x="7551249" y="0"/>
                </a:lnTo>
                <a:lnTo>
                  <a:pt x="3976357" y="3555241"/>
                </a:lnTo>
                <a:lnTo>
                  <a:pt x="0" y="355488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463" y="341313"/>
            <a:ext cx="2270125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0"/>
            <a:ext cx="11252200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/>
          <p:cNvSpPr/>
          <p:nvPr userDrawn="1"/>
        </p:nvSpPr>
        <p:spPr>
          <a:xfrm flipH="1">
            <a:off x="11488738" y="5392738"/>
            <a:ext cx="204787" cy="204787"/>
          </a:xfrm>
          <a:prstGeom prst="rtTriangl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Parallelogram 7"/>
          <p:cNvSpPr/>
          <p:nvPr userDrawn="1"/>
        </p:nvSpPr>
        <p:spPr>
          <a:xfrm flipH="1">
            <a:off x="1468438" y="1958975"/>
            <a:ext cx="2193925" cy="1096963"/>
          </a:xfrm>
          <a:prstGeom prst="parallelogram">
            <a:avLst>
              <a:gd name="adj" fmla="val 99186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Parallelogram 12"/>
          <p:cNvSpPr/>
          <p:nvPr userDrawn="1"/>
        </p:nvSpPr>
        <p:spPr>
          <a:xfrm>
            <a:off x="-15875" y="3327400"/>
            <a:ext cx="7550150" cy="3554413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682426 w 8260932"/>
              <a:gd name="connsiteY1" fmla="*/ 325590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40907 w 7578507"/>
              <a:gd name="connsiteY0" fmla="*/ 3486646 h 4292220"/>
              <a:gd name="connsiteX1" fmla="*/ 1 w 7578507"/>
              <a:gd name="connsiteY1" fmla="*/ 325590 h 4292220"/>
              <a:gd name="connsiteX2" fmla="*/ 303430 w 7578507"/>
              <a:gd name="connsiteY2" fmla="*/ 0 h 4292220"/>
              <a:gd name="connsiteX3" fmla="*/ 7578507 w 7578507"/>
              <a:gd name="connsiteY3" fmla="*/ 0 h 4292220"/>
              <a:gd name="connsiteX4" fmla="*/ 3321226 w 7578507"/>
              <a:gd name="connsiteY4" fmla="*/ 4292220 h 4292220"/>
              <a:gd name="connsiteX5" fmla="*/ 40907 w 7578507"/>
              <a:gd name="connsiteY5" fmla="*/ 3486646 h 4292220"/>
              <a:gd name="connsiteX0" fmla="*/ 13612 w 7551212"/>
              <a:gd name="connsiteY0" fmla="*/ 3486646 h 4292220"/>
              <a:gd name="connsiteX1" fmla="*/ 1 w 7551212"/>
              <a:gd name="connsiteY1" fmla="*/ 352885 h 4292220"/>
              <a:gd name="connsiteX2" fmla="*/ 276135 w 7551212"/>
              <a:gd name="connsiteY2" fmla="*/ 0 h 4292220"/>
              <a:gd name="connsiteX3" fmla="*/ 7551212 w 7551212"/>
              <a:gd name="connsiteY3" fmla="*/ 0 h 4292220"/>
              <a:gd name="connsiteX4" fmla="*/ 3293931 w 7551212"/>
              <a:gd name="connsiteY4" fmla="*/ 4292220 h 4292220"/>
              <a:gd name="connsiteX5" fmla="*/ 13612 w 7551212"/>
              <a:gd name="connsiteY5" fmla="*/ 3486646 h 4292220"/>
              <a:gd name="connsiteX0" fmla="*/ 13612 w 7551212"/>
              <a:gd name="connsiteY0" fmla="*/ 3486646 h 3555241"/>
              <a:gd name="connsiteX1" fmla="*/ 1 w 7551212"/>
              <a:gd name="connsiteY1" fmla="*/ 352885 h 3555241"/>
              <a:gd name="connsiteX2" fmla="*/ 276135 w 7551212"/>
              <a:gd name="connsiteY2" fmla="*/ 0 h 3555241"/>
              <a:gd name="connsiteX3" fmla="*/ 7551212 w 7551212"/>
              <a:gd name="connsiteY3" fmla="*/ 0 h 3555241"/>
              <a:gd name="connsiteX4" fmla="*/ 3976320 w 7551212"/>
              <a:gd name="connsiteY4" fmla="*/ 3555241 h 3555241"/>
              <a:gd name="connsiteX5" fmla="*/ 13612 w 7551212"/>
              <a:gd name="connsiteY5" fmla="*/ 3486646 h 3555241"/>
              <a:gd name="connsiteX0" fmla="*/ 13612 w 7551212"/>
              <a:gd name="connsiteY0" fmla="*/ 3568532 h 3568532"/>
              <a:gd name="connsiteX1" fmla="*/ 1 w 7551212"/>
              <a:gd name="connsiteY1" fmla="*/ 352885 h 3568532"/>
              <a:gd name="connsiteX2" fmla="*/ 276135 w 7551212"/>
              <a:gd name="connsiteY2" fmla="*/ 0 h 3568532"/>
              <a:gd name="connsiteX3" fmla="*/ 7551212 w 7551212"/>
              <a:gd name="connsiteY3" fmla="*/ 0 h 3568532"/>
              <a:gd name="connsiteX4" fmla="*/ 3976320 w 7551212"/>
              <a:gd name="connsiteY4" fmla="*/ 3555241 h 3568532"/>
              <a:gd name="connsiteX5" fmla="*/ 13612 w 7551212"/>
              <a:gd name="connsiteY5" fmla="*/ 3568532 h 3568532"/>
              <a:gd name="connsiteX0" fmla="*/ 0 w 7619487"/>
              <a:gd name="connsiteY0" fmla="*/ 3759601 h 3759601"/>
              <a:gd name="connsiteX1" fmla="*/ 68276 w 7619487"/>
              <a:gd name="connsiteY1" fmla="*/ 352885 h 3759601"/>
              <a:gd name="connsiteX2" fmla="*/ 344410 w 7619487"/>
              <a:gd name="connsiteY2" fmla="*/ 0 h 3759601"/>
              <a:gd name="connsiteX3" fmla="*/ 7619487 w 7619487"/>
              <a:gd name="connsiteY3" fmla="*/ 0 h 3759601"/>
              <a:gd name="connsiteX4" fmla="*/ 4044595 w 7619487"/>
              <a:gd name="connsiteY4" fmla="*/ 3555241 h 3759601"/>
              <a:gd name="connsiteX5" fmla="*/ 0 w 7619487"/>
              <a:gd name="connsiteY5" fmla="*/ 3759601 h 3759601"/>
              <a:gd name="connsiteX0" fmla="*/ 0 w 7947034"/>
              <a:gd name="connsiteY0" fmla="*/ 3991612 h 3991612"/>
              <a:gd name="connsiteX1" fmla="*/ 395823 w 7947034"/>
              <a:gd name="connsiteY1" fmla="*/ 352885 h 3991612"/>
              <a:gd name="connsiteX2" fmla="*/ 671957 w 7947034"/>
              <a:gd name="connsiteY2" fmla="*/ 0 h 3991612"/>
              <a:gd name="connsiteX3" fmla="*/ 7947034 w 7947034"/>
              <a:gd name="connsiteY3" fmla="*/ 0 h 3991612"/>
              <a:gd name="connsiteX4" fmla="*/ 4372142 w 7947034"/>
              <a:gd name="connsiteY4" fmla="*/ 3555241 h 3991612"/>
              <a:gd name="connsiteX5" fmla="*/ 0 w 7947034"/>
              <a:gd name="connsiteY5" fmla="*/ 3991612 h 3991612"/>
              <a:gd name="connsiteX0" fmla="*/ 0 w 7551249"/>
              <a:gd name="connsiteY0" fmla="*/ 3554884 h 3555241"/>
              <a:gd name="connsiteX1" fmla="*/ 38 w 7551249"/>
              <a:gd name="connsiteY1" fmla="*/ 352885 h 3555241"/>
              <a:gd name="connsiteX2" fmla="*/ 276172 w 7551249"/>
              <a:gd name="connsiteY2" fmla="*/ 0 h 3555241"/>
              <a:gd name="connsiteX3" fmla="*/ 7551249 w 7551249"/>
              <a:gd name="connsiteY3" fmla="*/ 0 h 3555241"/>
              <a:gd name="connsiteX4" fmla="*/ 3976357 w 7551249"/>
              <a:gd name="connsiteY4" fmla="*/ 3555241 h 3555241"/>
              <a:gd name="connsiteX5" fmla="*/ 0 w 7551249"/>
              <a:gd name="connsiteY5" fmla="*/ 3554884 h 3555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51249" h="3555241">
                <a:moveTo>
                  <a:pt x="0" y="3554884"/>
                </a:moveTo>
                <a:cubicBezTo>
                  <a:pt x="13" y="2455706"/>
                  <a:pt x="25" y="1452063"/>
                  <a:pt x="38" y="352885"/>
                </a:cubicBezTo>
                <a:lnTo>
                  <a:pt x="276172" y="0"/>
                </a:lnTo>
                <a:lnTo>
                  <a:pt x="7551249" y="0"/>
                </a:lnTo>
                <a:lnTo>
                  <a:pt x="3976357" y="3555241"/>
                </a:lnTo>
                <a:lnTo>
                  <a:pt x="0" y="3554884"/>
                </a:lnTo>
                <a:close/>
              </a:path>
            </a:pathLst>
          </a:custGeom>
          <a:solidFill>
            <a:schemeClr val="accent5">
              <a:alpha val="50196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3833" y="4870941"/>
            <a:ext cx="5486400" cy="822960"/>
          </a:xfrm>
        </p:spPr>
        <p:txBody>
          <a:bodyPr tIns="0"/>
          <a:lstStyle>
            <a:lvl1pPr algn="r">
              <a:defRPr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68233" y="5762394"/>
            <a:ext cx="4572000" cy="640080"/>
          </a:xfrm>
        </p:spPr>
        <p:txBody>
          <a:bodyPr tIns="0" bIns="0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125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25" y="278130"/>
            <a:ext cx="10424160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45" y="1381124"/>
            <a:ext cx="11338560" cy="466344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245" y="752574"/>
            <a:ext cx="1042416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561434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25" y="278130"/>
            <a:ext cx="10424160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13245" y="752574"/>
            <a:ext cx="10424160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217037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609" y="391310"/>
            <a:ext cx="5385514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609" y="1031074"/>
            <a:ext cx="5385514" cy="1839699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4589" y="391310"/>
            <a:ext cx="5387630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4589" y="1031072"/>
            <a:ext cx="5387630" cy="1850332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0"/>
          </p:nvPr>
        </p:nvSpPr>
        <p:spPr>
          <a:xfrm>
            <a:off x="445500" y="3223226"/>
            <a:ext cx="5385514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1"/>
          </p:nvPr>
        </p:nvSpPr>
        <p:spPr>
          <a:xfrm>
            <a:off x="445500" y="3862995"/>
            <a:ext cx="5385514" cy="1839699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393480" y="3223226"/>
            <a:ext cx="5387630" cy="548640"/>
          </a:xfrm>
        </p:spPr>
        <p:txBody>
          <a:bodyPr anchor="b">
            <a:noAutofit/>
          </a:bodyPr>
          <a:lstStyle>
            <a:lvl1pPr marL="0" indent="0">
              <a:buNone/>
              <a:defRPr sz="19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/>
          </p:nvPr>
        </p:nvSpPr>
        <p:spPr>
          <a:xfrm>
            <a:off x="6393480" y="3862988"/>
            <a:ext cx="5387630" cy="1850332"/>
          </a:xfrm>
        </p:spPr>
        <p:txBody>
          <a:bodyPr/>
          <a:lstStyle>
            <a:lvl1pPr>
              <a:defRPr sz="19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85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0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12"/>
          <p:cNvSpPr/>
          <p:nvPr userDrawn="1"/>
        </p:nvSpPr>
        <p:spPr>
          <a:xfrm>
            <a:off x="-3175" y="3328988"/>
            <a:ext cx="8453438" cy="3529012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548849 w 8260932"/>
              <a:gd name="connsiteY2" fmla="*/ 438981 h 4292220"/>
              <a:gd name="connsiteX3" fmla="*/ 985855 w 8260932"/>
              <a:gd name="connsiteY3" fmla="*/ 0 h 4292220"/>
              <a:gd name="connsiteX4" fmla="*/ 8260932 w 8260932"/>
              <a:gd name="connsiteY4" fmla="*/ 0 h 4292220"/>
              <a:gd name="connsiteX5" fmla="*/ 4003651 w 8260932"/>
              <a:gd name="connsiteY5" fmla="*/ 4292220 h 4292220"/>
              <a:gd name="connsiteX6" fmla="*/ 548849 w 8260932"/>
              <a:gd name="connsiteY6" fmla="*/ 4289231 h 4292220"/>
              <a:gd name="connsiteX7" fmla="*/ 0 w 8260932"/>
              <a:gd name="connsiteY7" fmla="*/ 4291864 h 4292220"/>
              <a:gd name="connsiteX0" fmla="*/ 0 w 8260932"/>
              <a:gd name="connsiteY0" fmla="*/ 4291864 h 4292220"/>
              <a:gd name="connsiteX1" fmla="*/ 548849 w 8260932"/>
              <a:gd name="connsiteY1" fmla="*/ 43898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7712083"/>
              <a:gd name="connsiteY0" fmla="*/ 4289231 h 4292220"/>
              <a:gd name="connsiteX1" fmla="*/ 0 w 7712083"/>
              <a:gd name="connsiteY1" fmla="*/ 438981 h 4292220"/>
              <a:gd name="connsiteX2" fmla="*/ 437006 w 7712083"/>
              <a:gd name="connsiteY2" fmla="*/ 0 h 4292220"/>
              <a:gd name="connsiteX3" fmla="*/ 7712083 w 7712083"/>
              <a:gd name="connsiteY3" fmla="*/ 0 h 4292220"/>
              <a:gd name="connsiteX4" fmla="*/ 3454802 w 7712083"/>
              <a:gd name="connsiteY4" fmla="*/ 4292220 h 4292220"/>
              <a:gd name="connsiteX5" fmla="*/ 0 w 7712083"/>
              <a:gd name="connsiteY5" fmla="*/ 4289231 h 429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12083" h="4292220">
                <a:moveTo>
                  <a:pt x="0" y="4289231"/>
                </a:moveTo>
                <a:lnTo>
                  <a:pt x="0" y="438981"/>
                </a:lnTo>
                <a:lnTo>
                  <a:pt x="437006" y="0"/>
                </a:lnTo>
                <a:lnTo>
                  <a:pt x="7712083" y="0"/>
                </a:lnTo>
                <a:lnTo>
                  <a:pt x="3454802" y="4292220"/>
                </a:lnTo>
                <a:lnTo>
                  <a:pt x="0" y="4289231"/>
                </a:lnTo>
                <a:close/>
              </a:path>
            </a:pathLst>
          </a:custGeom>
          <a:solidFill>
            <a:srgbClr val="00AAB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Parallelogram 4"/>
          <p:cNvSpPr/>
          <p:nvPr userDrawn="1"/>
        </p:nvSpPr>
        <p:spPr>
          <a:xfrm flipH="1">
            <a:off x="1404938" y="2190750"/>
            <a:ext cx="2406650" cy="901700"/>
          </a:xfrm>
          <a:prstGeom prst="parallelogram">
            <a:avLst>
              <a:gd name="adj" fmla="val 99186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prstClr val="white"/>
              </a:solidFill>
            </a:endParaRPr>
          </a:p>
        </p:txBody>
      </p:sp>
      <p:pic>
        <p:nvPicPr>
          <p:cNvPr id="6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0"/>
            <a:ext cx="11915775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arallelogram 12"/>
          <p:cNvSpPr/>
          <p:nvPr userDrawn="1"/>
        </p:nvSpPr>
        <p:spPr>
          <a:xfrm>
            <a:off x="-3175" y="3328988"/>
            <a:ext cx="8453438" cy="3529012"/>
          </a:xfrm>
          <a:custGeom>
            <a:avLst/>
            <a:gdLst>
              <a:gd name="connsiteX0" fmla="*/ 0 w 11532358"/>
              <a:gd name="connsiteY0" fmla="*/ 4292220 h 4292220"/>
              <a:gd name="connsiteX1" fmla="*/ 4257281 w 11532358"/>
              <a:gd name="connsiteY1" fmla="*/ 0 h 4292220"/>
              <a:gd name="connsiteX2" fmla="*/ 11532358 w 11532358"/>
              <a:gd name="connsiteY2" fmla="*/ 0 h 4292220"/>
              <a:gd name="connsiteX3" fmla="*/ 7275077 w 11532358"/>
              <a:gd name="connsiteY3" fmla="*/ 4292220 h 4292220"/>
              <a:gd name="connsiteX4" fmla="*/ 0 w 11532358"/>
              <a:gd name="connsiteY4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0 w 11532358"/>
              <a:gd name="connsiteY5" fmla="*/ 4292220 h 4292220"/>
              <a:gd name="connsiteX0" fmla="*/ 0 w 11532358"/>
              <a:gd name="connsiteY0" fmla="*/ 4292220 h 4292220"/>
              <a:gd name="connsiteX1" fmla="*/ 3271464 w 11532358"/>
              <a:gd name="connsiteY1" fmla="*/ 994331 h 4292220"/>
              <a:gd name="connsiteX2" fmla="*/ 4257281 w 11532358"/>
              <a:gd name="connsiteY2" fmla="*/ 0 h 4292220"/>
              <a:gd name="connsiteX3" fmla="*/ 11532358 w 11532358"/>
              <a:gd name="connsiteY3" fmla="*/ 0 h 4292220"/>
              <a:gd name="connsiteX4" fmla="*/ 7275077 w 11532358"/>
              <a:gd name="connsiteY4" fmla="*/ 4292220 h 4292220"/>
              <a:gd name="connsiteX5" fmla="*/ 3271426 w 11532358"/>
              <a:gd name="connsiteY5" fmla="*/ 4291864 h 4292220"/>
              <a:gd name="connsiteX6" fmla="*/ 0 w 11532358"/>
              <a:gd name="connsiteY6" fmla="*/ 4292220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0 w 8260932"/>
              <a:gd name="connsiteY5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8260932"/>
              <a:gd name="connsiteY0" fmla="*/ 4291864 h 4292220"/>
              <a:gd name="connsiteX1" fmla="*/ 38 w 8260932"/>
              <a:gd name="connsiteY1" fmla="*/ 994331 h 4292220"/>
              <a:gd name="connsiteX2" fmla="*/ 548849 w 8260932"/>
              <a:gd name="connsiteY2" fmla="*/ 438981 h 4292220"/>
              <a:gd name="connsiteX3" fmla="*/ 985855 w 8260932"/>
              <a:gd name="connsiteY3" fmla="*/ 0 h 4292220"/>
              <a:gd name="connsiteX4" fmla="*/ 8260932 w 8260932"/>
              <a:gd name="connsiteY4" fmla="*/ 0 h 4292220"/>
              <a:gd name="connsiteX5" fmla="*/ 4003651 w 8260932"/>
              <a:gd name="connsiteY5" fmla="*/ 4292220 h 4292220"/>
              <a:gd name="connsiteX6" fmla="*/ 548849 w 8260932"/>
              <a:gd name="connsiteY6" fmla="*/ 4289231 h 4292220"/>
              <a:gd name="connsiteX7" fmla="*/ 0 w 8260932"/>
              <a:gd name="connsiteY7" fmla="*/ 4291864 h 4292220"/>
              <a:gd name="connsiteX0" fmla="*/ 0 w 8260932"/>
              <a:gd name="connsiteY0" fmla="*/ 4291864 h 4292220"/>
              <a:gd name="connsiteX1" fmla="*/ 548849 w 8260932"/>
              <a:gd name="connsiteY1" fmla="*/ 438981 h 4292220"/>
              <a:gd name="connsiteX2" fmla="*/ 985855 w 8260932"/>
              <a:gd name="connsiteY2" fmla="*/ 0 h 4292220"/>
              <a:gd name="connsiteX3" fmla="*/ 8260932 w 8260932"/>
              <a:gd name="connsiteY3" fmla="*/ 0 h 4292220"/>
              <a:gd name="connsiteX4" fmla="*/ 4003651 w 8260932"/>
              <a:gd name="connsiteY4" fmla="*/ 4292220 h 4292220"/>
              <a:gd name="connsiteX5" fmla="*/ 548849 w 8260932"/>
              <a:gd name="connsiteY5" fmla="*/ 4289231 h 4292220"/>
              <a:gd name="connsiteX6" fmla="*/ 0 w 8260932"/>
              <a:gd name="connsiteY6" fmla="*/ 4291864 h 4292220"/>
              <a:gd name="connsiteX0" fmla="*/ 0 w 7712083"/>
              <a:gd name="connsiteY0" fmla="*/ 4289231 h 4292220"/>
              <a:gd name="connsiteX1" fmla="*/ 0 w 7712083"/>
              <a:gd name="connsiteY1" fmla="*/ 438981 h 4292220"/>
              <a:gd name="connsiteX2" fmla="*/ 437006 w 7712083"/>
              <a:gd name="connsiteY2" fmla="*/ 0 h 4292220"/>
              <a:gd name="connsiteX3" fmla="*/ 7712083 w 7712083"/>
              <a:gd name="connsiteY3" fmla="*/ 0 h 4292220"/>
              <a:gd name="connsiteX4" fmla="*/ 3454802 w 7712083"/>
              <a:gd name="connsiteY4" fmla="*/ 4292220 h 4292220"/>
              <a:gd name="connsiteX5" fmla="*/ 0 w 7712083"/>
              <a:gd name="connsiteY5" fmla="*/ 4289231 h 429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12083" h="4292220">
                <a:moveTo>
                  <a:pt x="0" y="4289231"/>
                </a:moveTo>
                <a:lnTo>
                  <a:pt x="0" y="438981"/>
                </a:lnTo>
                <a:lnTo>
                  <a:pt x="437006" y="0"/>
                </a:lnTo>
                <a:lnTo>
                  <a:pt x="7712083" y="0"/>
                </a:lnTo>
                <a:lnTo>
                  <a:pt x="3454802" y="4292220"/>
                </a:lnTo>
                <a:lnTo>
                  <a:pt x="0" y="4289231"/>
                </a:lnTo>
                <a:close/>
              </a:path>
            </a:pathLst>
          </a:custGeom>
          <a:solidFill>
            <a:srgbClr val="00AAB5">
              <a:alpha val="50196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11488738" y="5392738"/>
            <a:ext cx="273050" cy="204787"/>
          </a:xfrm>
          <a:prstGeom prst="rtTriangl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700" y="341313"/>
            <a:ext cx="3027363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53833" y="4870941"/>
            <a:ext cx="5486400" cy="822960"/>
          </a:xfrm>
        </p:spPr>
        <p:txBody>
          <a:bodyPr tIns="0"/>
          <a:lstStyle>
            <a:lvl1pPr algn="r">
              <a:defRPr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68234" y="5762394"/>
            <a:ext cx="4572000" cy="640080"/>
          </a:xfrm>
        </p:spPr>
        <p:txBody>
          <a:bodyPr tIns="0" bIns="0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8855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707"/>
            <a:ext cx="10238613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5" y="1381123"/>
            <a:ext cx="11457496" cy="493776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553608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707"/>
            <a:ext cx="10238613" cy="474345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932270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36026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388"/>
            <a:ext cx="10238613" cy="4746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6" y="1381123"/>
            <a:ext cx="5484971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7137" y="1381123"/>
            <a:ext cx="5484971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2580946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388"/>
            <a:ext cx="10238613" cy="4746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6" y="1777919"/>
            <a:ext cx="5484971" cy="45720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307137" y="1777919"/>
            <a:ext cx="5484971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2"/>
          </p:nvPr>
        </p:nvSpPr>
        <p:spPr>
          <a:xfrm>
            <a:off x="365756" y="1287463"/>
            <a:ext cx="5484971" cy="4790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7137" y="1287463"/>
            <a:ext cx="5484971" cy="4790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78178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98" y="306388"/>
            <a:ext cx="10238613" cy="4746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3172" y="1381123"/>
            <a:ext cx="7313295" cy="5029200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5755" y="752474"/>
            <a:ext cx="10238613" cy="285750"/>
          </a:xfrm>
        </p:spPr>
        <p:txBody>
          <a:bodyPr tIns="0" bIns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18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marL="36766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2pPr>
            <a:lvl3pPr marL="746125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3pPr>
            <a:lvl4pPr marL="1188720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 smtClean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4pPr>
            <a:lvl5pPr marL="1481328" indent="0" algn="l" defTabSz="914400" rtl="0" eaLnBrk="1" latinLnBrk="0" hangingPunct="1">
              <a:spcBef>
                <a:spcPct val="0"/>
              </a:spcBef>
              <a:buNone/>
              <a:defRPr lang="en-US" sz="2400" strike="noStrike" kern="1200" cap="all" baseline="0" dirty="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56" y="1381123"/>
            <a:ext cx="4010039" cy="50292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360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111" y="182880"/>
            <a:ext cx="9994837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111" y="1096859"/>
            <a:ext cx="5383398" cy="521208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61155" y="1096859"/>
            <a:ext cx="5383398" cy="521208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2828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57770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 userDrawn="1"/>
        </p:nvSpPr>
        <p:spPr bwMode="auto">
          <a:xfrm>
            <a:off x="0" y="1600200"/>
            <a:ext cx="12188825" cy="36576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228600" tIns="45714" rIns="228600" bIns="45714" anchor="ctr"/>
          <a:lstStyle>
            <a:lvl1pPr marL="1588" indent="-1588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812588" y="1600198"/>
            <a:ext cx="4875530" cy="3657602"/>
            <a:chOff x="4328513" y="1905000"/>
            <a:chExt cx="3106797" cy="3106799"/>
          </a:xfrm>
          <a:solidFill>
            <a:srgbClr val="000000">
              <a:alpha val="10196"/>
            </a:srgbClr>
          </a:solidFill>
        </p:grpSpPr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5262777" y="2839263"/>
              <a:ext cx="1271637" cy="1271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262626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6" name="Freeform 9"/>
            <p:cNvSpPr>
              <a:spLocks/>
            </p:cNvSpPr>
            <p:nvPr/>
          </p:nvSpPr>
          <p:spPr bwMode="auto">
            <a:xfrm>
              <a:off x="5633516" y="4110901"/>
              <a:ext cx="1801794" cy="900898"/>
            </a:xfrm>
            <a:custGeom>
              <a:avLst/>
              <a:gdLst>
                <a:gd name="T0" fmla="*/ 0 w 486"/>
                <a:gd name="T1" fmla="*/ 243 h 243"/>
                <a:gd name="T2" fmla="*/ 486 w 486"/>
                <a:gd name="T3" fmla="*/ 243 h 243"/>
                <a:gd name="T4" fmla="*/ 243 w 486"/>
                <a:gd name="T5" fmla="*/ 0 h 243"/>
                <a:gd name="T6" fmla="*/ 0 w 486"/>
                <a:gd name="T7" fmla="*/ 243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6" h="243">
                  <a:moveTo>
                    <a:pt x="0" y="243"/>
                  </a:moveTo>
                  <a:lnTo>
                    <a:pt x="486" y="243"/>
                  </a:lnTo>
                  <a:lnTo>
                    <a:pt x="243" y="0"/>
                  </a:lnTo>
                  <a:lnTo>
                    <a:pt x="0" y="2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262626"/>
                </a:solidFill>
                <a:latin typeface="Arial"/>
                <a:cs typeface="Arial" charset="0"/>
              </a:endParaRPr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auto">
            <a:xfrm>
              <a:off x="4328513" y="1905000"/>
              <a:ext cx="934263" cy="1864821"/>
            </a:xfrm>
            <a:custGeom>
              <a:avLst/>
              <a:gdLst>
                <a:gd name="T0" fmla="*/ 0 w 252"/>
                <a:gd name="T1" fmla="*/ 0 h 503"/>
                <a:gd name="T2" fmla="*/ 0 w 252"/>
                <a:gd name="T3" fmla="*/ 503 h 503"/>
                <a:gd name="T4" fmla="*/ 252 w 252"/>
                <a:gd name="T5" fmla="*/ 252 h 503"/>
                <a:gd name="T6" fmla="*/ 0 w 252"/>
                <a:gd name="T7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2" h="503">
                  <a:moveTo>
                    <a:pt x="0" y="0"/>
                  </a:moveTo>
                  <a:lnTo>
                    <a:pt x="0" y="503"/>
                  </a:lnTo>
                  <a:lnTo>
                    <a:pt x="252" y="25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rgbClr val="262626"/>
                </a:solidFill>
                <a:latin typeface="Arial"/>
                <a:cs typeface="Arial" charset="0"/>
              </a:endParaRPr>
            </a:p>
          </p:txBody>
        </p:sp>
      </p:grpSp>
      <p:sp>
        <p:nvSpPr>
          <p:cNvPr id="8" name="Chevron 7"/>
          <p:cNvSpPr>
            <a:spLocks noChangeArrowheads="1"/>
          </p:cNvSpPr>
          <p:nvPr userDrawn="1"/>
        </p:nvSpPr>
        <p:spPr bwMode="auto">
          <a:xfrm>
            <a:off x="10580688" y="2690813"/>
            <a:ext cx="877887" cy="1476375"/>
          </a:xfrm>
          <a:prstGeom prst="chevron">
            <a:avLst>
              <a:gd name="adj" fmla="val 74139"/>
            </a:avLst>
          </a:prstGeom>
          <a:solidFill>
            <a:schemeClr val="accent5"/>
          </a:solidFill>
          <a:ln>
            <a:noFill/>
          </a:ln>
          <a:extLst/>
        </p:spPr>
        <p:txBody>
          <a:bodyPr lIns="228600" tIns="45714" rIns="228600" bIns="45714" anchor="ctr"/>
          <a:lstStyle/>
          <a:p>
            <a:pPr marL="1588" indent="-1588" algn="ctr" defTabSz="9128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solidFill>
                <a:srgbClr val="FFFFFF"/>
              </a:solidFill>
              <a:latin typeface="Arial"/>
              <a:cs typeface="Arial" charset="0"/>
            </a:endParaRPr>
          </a:p>
        </p:txBody>
      </p:sp>
      <p:pic>
        <p:nvPicPr>
          <p:cNvPr id="9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013" y="271463"/>
            <a:ext cx="16017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7654" y="2751138"/>
            <a:ext cx="5241195" cy="1362075"/>
          </a:xfrm>
        </p:spPr>
        <p:txBody>
          <a:bodyPr anchor="ctr">
            <a:normAutofit/>
          </a:bodyPr>
          <a:lstStyle>
            <a:lvl1pPr algn="r">
              <a:defRPr sz="2400" b="0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17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463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/>
          <p:cNvSpPr/>
          <p:nvPr userDrawn="1"/>
        </p:nvSpPr>
        <p:spPr>
          <a:xfrm flipH="1">
            <a:off x="9693275" y="3965575"/>
            <a:ext cx="206375" cy="204788"/>
          </a:xfrm>
          <a:prstGeom prst="rt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Parallelogram 3"/>
          <p:cNvSpPr/>
          <p:nvPr userDrawn="1"/>
        </p:nvSpPr>
        <p:spPr>
          <a:xfrm>
            <a:off x="5849938" y="4452938"/>
            <a:ext cx="5370512" cy="966787"/>
          </a:xfrm>
          <a:prstGeom prst="parallelogram">
            <a:avLst>
              <a:gd name="adj" fmla="val 99186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solidFill>
                <a:prstClr val="white"/>
              </a:solidFill>
            </a:endParaRPr>
          </a:p>
        </p:txBody>
      </p:sp>
      <p:sp>
        <p:nvSpPr>
          <p:cNvPr id="5" name="Parallelogram 4"/>
          <p:cNvSpPr/>
          <p:nvPr userDrawn="1"/>
        </p:nvSpPr>
        <p:spPr>
          <a:xfrm>
            <a:off x="10180638" y="5038725"/>
            <a:ext cx="1320800" cy="381000"/>
          </a:xfrm>
          <a:prstGeom prst="parallelogram">
            <a:avLst>
              <a:gd name="adj" fmla="val 99186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6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1775" y="350838"/>
            <a:ext cx="1601788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457765" y="2541290"/>
            <a:ext cx="5134475" cy="1841409"/>
          </a:xfrm>
        </p:spPr>
        <p:txBody>
          <a:bodyPr tIns="0"/>
          <a:lstStyle>
            <a:lvl1pPr algn="r">
              <a:defRPr sz="66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2625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6388" y="277813"/>
            <a:ext cx="10423525" cy="474662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12738" y="1381125"/>
            <a:ext cx="11339512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3" y="6561033"/>
            <a:ext cx="2212144" cy="236748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cap="all" dirty="0"/>
              <a:t>|   </a:t>
            </a:r>
            <a:r>
              <a:rPr lang="en-US" altLang="zh-CN" sz="1000" cap="all" dirty="0"/>
              <a:t>tensile Conv </a:t>
            </a:r>
            <a:r>
              <a:rPr lang="en-US" sz="1000" cap="all" dirty="0"/>
              <a:t>|   </a:t>
            </a:r>
            <a:fld id="{F9649FD6-C0F2-4A33-9D42-84E368792D73}" type="datetime4">
              <a:rPr lang="en-US" sz="1000" cap="all"/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March 8, 2019</a:t>
            </a:fld>
            <a:r>
              <a:rPr lang="en-US" sz="1000" cap="all" dirty="0"/>
              <a:t> </a:t>
            </a:r>
          </a:p>
        </p:txBody>
      </p:sp>
      <p:pic>
        <p:nvPicPr>
          <p:cNvPr id="1029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913" y="267230"/>
            <a:ext cx="12017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04788" y="6561138"/>
            <a:ext cx="150812" cy="236537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1152F864-876E-44A1-BF21-52FA88B4FBC7}" type="slidenum">
              <a:rPr lang="en-US" altLang="en-US" sz="1000" smtClean="0"/>
              <a:pPr algn="r" eaLnBrk="1" hangingPunct="1">
                <a:defRPr/>
              </a:pPr>
              <a:t>‹#›</a:t>
            </a:fld>
            <a:endParaRPr lang="en-US" altLang="en-US"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61" r:id="rId4"/>
  </p:sldLayoutIdLst>
  <p:transition/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2600" kern="1200" cap="all" dirty="0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ts val="800"/>
        </a:spcBef>
        <a:spcAft>
          <a:spcPct val="0"/>
        </a:spcAft>
        <a:buClr>
          <a:schemeClr val="tx1"/>
        </a:buClr>
        <a:buFont typeface="Wingdings 3" panose="05040102010807070707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7688" indent="-180975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563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4650" indent="-163513" algn="l" rtl="0" eaLnBrk="0" fontAlgn="base" hangingPunct="0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0" y="306388"/>
            <a:ext cx="10239375" cy="474662"/>
          </a:xfrm>
          <a:prstGeom prst="rect">
            <a:avLst/>
          </a:prstGeom>
        </p:spPr>
        <p:txBody>
          <a:bodyPr vert="horz" lIns="0" tIns="4572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5125" y="1381125"/>
            <a:ext cx="11458575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13" y="6561138"/>
            <a:ext cx="3741737" cy="236537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cap="all" dirty="0">
                <a:solidFill>
                  <a:prstClr val="black"/>
                </a:solidFill>
                <a:latin typeface="Calibri"/>
              </a:rPr>
              <a:t>|  IP PLAN template   |   </a:t>
            </a:r>
            <a:fld id="{F9649FD6-C0F2-4A33-9D42-84E368792D73}" type="datetime4">
              <a:rPr lang="en-US" sz="1000" cap="all">
                <a:solidFill>
                  <a:prstClr val="black"/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March 8, 2019</a:t>
            </a:fld>
            <a:r>
              <a:rPr lang="en-US" sz="1000" cap="all" dirty="0">
                <a:solidFill>
                  <a:prstClr val="black"/>
                </a:solidFill>
                <a:latin typeface="Calibri"/>
              </a:rPr>
              <a:t>   |   AMD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788" y="6561138"/>
            <a:ext cx="150812" cy="236537"/>
          </a:xfrm>
          <a:prstGeom prst="rect">
            <a:avLst/>
          </a:prstGeom>
          <a:noFill/>
        </p:spPr>
        <p:txBody>
          <a:bodyPr wrap="none" lIns="0" tIns="41029" rIns="0" bIns="41029"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A86BF26A-6954-4225-AB06-0CF0A630366C}" type="slidenum">
              <a:rPr lang="en-US" sz="1000" cap="all">
                <a:solidFill>
                  <a:prstClr val="black"/>
                </a:solidFill>
                <a:latin typeface="Calibri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00" cap="all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054" name="Picture 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538" y="344488"/>
            <a:ext cx="160178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9" r:id="rId10"/>
    <p:sldLayoutId id="2147484055" r:id="rId11"/>
    <p:sldLayoutId id="2147484060" r:id="rId12"/>
  </p:sldLayoutIdLst>
  <p:transition/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2600" kern="1200" cap="all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ts val="800"/>
        </a:spcBef>
        <a:spcAft>
          <a:spcPct val="0"/>
        </a:spcAft>
        <a:buClr>
          <a:schemeClr val="tx1"/>
        </a:buClr>
        <a:buFont typeface="Wingdings 3" panose="05040102010807070707" pitchFamily="18" charset="2"/>
        <a:buChar char="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47688" indent="-180975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168275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371600" indent="-182563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644650" indent="-163513" algn="l" rtl="0" fontAlgn="base">
        <a:spcBef>
          <a:spcPts val="30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‒"/>
        <a:defRPr sz="12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cid:image007.png@01D4B823.6E343B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953125" y="4870450"/>
            <a:ext cx="5486400" cy="823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TensileConv update </a:t>
            </a:r>
            <a:endParaRPr dirty="0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6867525" y="5762625"/>
            <a:ext cx="4572000" cy="6397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err="1"/>
              <a:t>Wong,Fei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Feb. 2019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12738" y="101259"/>
            <a:ext cx="10423525" cy="4746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/>
              <a:t> </a:t>
            </a:r>
            <a:r>
              <a:rPr lang="en-US" altLang="zh-CN" b="1" dirty="0"/>
              <a:t>outline</a:t>
            </a:r>
            <a:endParaRPr b="1" dirty="0"/>
          </a:p>
        </p:txBody>
      </p:sp>
      <p:sp>
        <p:nvSpPr>
          <p:cNvPr id="12291" name="Content Placeholder 11"/>
          <p:cNvSpPr>
            <a:spLocks noGrp="1"/>
          </p:cNvSpPr>
          <p:nvPr>
            <p:ph idx="1"/>
          </p:nvPr>
        </p:nvSpPr>
        <p:spPr>
          <a:xfrm>
            <a:off x="312738" y="655638"/>
            <a:ext cx="5553075" cy="5947293"/>
          </a:xfrm>
        </p:spPr>
        <p:txBody>
          <a:bodyPr/>
          <a:lstStyle/>
          <a:p>
            <a:pPr eaLnBrk="1" hangingPunct="1"/>
            <a:r>
              <a:rPr lang="en-US" altLang="zh-CN" dirty="0"/>
              <a:t>Pre-work</a:t>
            </a:r>
          </a:p>
          <a:p>
            <a:pPr eaLnBrk="1" hangingPunct="1"/>
            <a:r>
              <a:rPr lang="en-US" altLang="zh-CN" dirty="0"/>
              <a:t>Status</a:t>
            </a:r>
          </a:p>
          <a:p>
            <a:pPr eaLnBrk="1" hangingPunct="1"/>
            <a:r>
              <a:rPr lang="en-US" altLang="zh-CN" dirty="0"/>
              <a:t>Performance </a:t>
            </a:r>
          </a:p>
          <a:p>
            <a:pPr eaLnBrk="1" hangingPunct="1"/>
            <a:r>
              <a:rPr lang="en-US" altLang="zh-CN" dirty="0"/>
              <a:t>Auto Tuning</a:t>
            </a:r>
          </a:p>
          <a:p>
            <a:pPr eaLnBrk="1" hangingPunct="1"/>
            <a:r>
              <a:rPr lang="en-US" altLang="zh-CN" dirty="0"/>
              <a:t>Library and API  </a:t>
            </a:r>
          </a:p>
          <a:p>
            <a:pPr eaLnBrk="1" hangingPunct="1"/>
            <a:r>
              <a:rPr lang="en-US" altLang="zh-CN" dirty="0"/>
              <a:t>Future Work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452084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Tensile Conv use a Auto-Tuning method which is to auto generate convolution 1x1 forward kernel code and achieve peak performance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Kernel generation: gfx900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Auto tuning: brute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Prefetch method</a:t>
            </a:r>
          </a:p>
        </p:txBody>
      </p:sp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Pre-work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1009C73-91DF-44F3-801A-A97C607B3428}"/>
              </a:ext>
            </a:extLst>
          </p:cNvPr>
          <p:cNvSpPr txBox="1">
            <a:spLocks/>
          </p:cNvSpPr>
          <p:nvPr/>
        </p:nvSpPr>
        <p:spPr bwMode="auto">
          <a:xfrm>
            <a:off x="771779" y="2511138"/>
            <a:ext cx="3095466" cy="4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5163" lvl="1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Thread trace without  prefetch : 169528 cycle</a:t>
            </a:r>
            <a:endParaRPr lang="en-US" altLang="zh-CN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255EA1-64E3-40BC-AB60-7CCD6337B345}"/>
              </a:ext>
            </a:extLst>
          </p:cNvPr>
          <p:cNvGrpSpPr/>
          <p:nvPr/>
        </p:nvGrpSpPr>
        <p:grpSpPr>
          <a:xfrm>
            <a:off x="308228" y="2836445"/>
            <a:ext cx="6473752" cy="3365918"/>
            <a:chOff x="308228" y="2836445"/>
            <a:chExt cx="6473752" cy="336591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41104F-C27A-4026-BCC0-236ADE23E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8679" y="2836445"/>
              <a:ext cx="2630764" cy="673838"/>
            </a:xfrm>
            <a:prstGeom prst="rect">
              <a:avLst/>
            </a:prstGeom>
          </p:spPr>
        </p:pic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D3EBB281-8325-4B1B-B053-D7A460705E3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08282" y="4477111"/>
              <a:ext cx="3095465" cy="430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45720" rIns="0" bIns="45720" numCol="1" anchor="t" anchorCtr="0" compatLnSpc="1">
              <a:prstTxWarp prst="textNoShape">
                <a:avLst/>
              </a:prstTxWarp>
              <a:noAutofit/>
            </a:bodyPr>
            <a:lstStyle>
              <a:lvl1pPr marL="0" indent="0" algn="l" rtl="0" eaLnBrk="0" fontAlgn="base" hangingPunct="0">
                <a:spcBef>
                  <a:spcPts val="800"/>
                </a:spcBef>
                <a:spcAft>
                  <a:spcPct val="0"/>
                </a:spcAft>
                <a:buClr>
                  <a:schemeClr val="tx1"/>
                </a:buClr>
                <a:buFont typeface="Wingdings 3" panose="05040102010807070707" pitchFamily="18" charset="2"/>
                <a:buNone/>
                <a:defRPr sz="1999" b="1" kern="1200">
                  <a:solidFill>
                    <a:schemeClr val="tx1"/>
                  </a:solidFill>
                  <a:latin typeface="Calibri" pitchFamily="34" charset="0"/>
                  <a:ea typeface="+mn-ea"/>
                  <a:cs typeface="+mn-cs"/>
                </a:defRPr>
              </a:lvl1pPr>
              <a:lvl2pPr marL="457063" indent="0" algn="l" rtl="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tx1"/>
                </a:buClr>
                <a:buFont typeface="Calibri" panose="020F0502020204030204" pitchFamily="34" charset="0"/>
                <a:buNone/>
                <a:defRPr sz="1999" b="1" kern="1200">
                  <a:solidFill>
                    <a:schemeClr val="tx1"/>
                  </a:solidFill>
                  <a:latin typeface="Calibri" pitchFamily="34" charset="0"/>
                  <a:ea typeface="+mn-ea"/>
                  <a:cs typeface="+mn-cs"/>
                </a:defRPr>
              </a:lvl2pPr>
              <a:lvl3pPr marL="914126" indent="0" algn="l" rtl="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tx1"/>
                </a:buClr>
                <a:buFont typeface="Calibri" panose="020F0502020204030204" pitchFamily="34" charset="0"/>
                <a:buNone/>
                <a:defRPr sz="1799" b="1" kern="1200">
                  <a:solidFill>
                    <a:schemeClr val="tx1"/>
                  </a:solidFill>
                  <a:latin typeface="Calibri" pitchFamily="34" charset="0"/>
                  <a:ea typeface="+mn-ea"/>
                  <a:cs typeface="+mn-cs"/>
                </a:defRPr>
              </a:lvl3pPr>
              <a:lvl4pPr marL="1371189" indent="0" algn="l" rtl="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tx1"/>
                </a:buClr>
                <a:buFont typeface="Calibri" panose="020F0502020204030204" pitchFamily="34" charset="0"/>
                <a:buNone/>
                <a:defRPr sz="1600" b="1" kern="1200">
                  <a:solidFill>
                    <a:schemeClr val="tx1"/>
                  </a:solidFill>
                  <a:latin typeface="Calibri" pitchFamily="34" charset="0"/>
                  <a:ea typeface="+mn-ea"/>
                  <a:cs typeface="+mn-cs"/>
                </a:defRPr>
              </a:lvl4pPr>
              <a:lvl5pPr marL="1828251" indent="0" algn="l" rtl="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tx1"/>
                </a:buClr>
                <a:buFont typeface="Calibri" panose="020F0502020204030204" pitchFamily="34" charset="0"/>
                <a:buNone/>
                <a:defRPr sz="1600" b="1" kern="1200">
                  <a:solidFill>
                    <a:schemeClr val="tx1"/>
                  </a:solidFill>
                  <a:latin typeface="Calibri" pitchFamily="34" charset="0"/>
                  <a:ea typeface="+mn-ea"/>
                  <a:cs typeface="+mn-cs"/>
                </a:defRPr>
              </a:lvl5pPr>
              <a:lvl6pPr marL="2285314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2377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19944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6503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65163" lvl="1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Thread trace with prefetch : 102296 cycle</a:t>
              </a:r>
            </a:p>
            <a:p>
              <a:pPr marL="1122226" lvl="2" indent="-285750">
                <a:buFont typeface="Arial" panose="020B0604020202020204" pitchFamily="34" charset="0"/>
                <a:buChar char="•"/>
              </a:pPr>
              <a:r>
                <a:rPr lang="en-US" altLang="zh-CN" sz="1400" dirty="0"/>
                <a:t>Weight hit in SQC for each Conv  loop </a:t>
              </a:r>
              <a:endParaRPr lang="en-US" sz="140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7BA6B6-B5B0-433F-BEE2-D8F6AFC01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28" y="3064716"/>
              <a:ext cx="4022569" cy="113264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C9B50D-6B5E-4A41-9795-906E0B158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28" y="5011095"/>
              <a:ext cx="4106195" cy="1191268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0F55A8-9C96-4DB6-958F-6D3A3AF0C268}"/>
                </a:ext>
              </a:extLst>
            </p:cNvPr>
            <p:cNvSpPr/>
            <p:nvPr/>
          </p:nvSpPr>
          <p:spPr>
            <a:xfrm>
              <a:off x="1716037" y="3762594"/>
              <a:ext cx="1206951" cy="35328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solidFill>
                    <a:srgbClr val="ED1C24"/>
                  </a:solidFill>
                </a:rPr>
                <a:t>169528 </a:t>
              </a:r>
              <a:r>
                <a:rPr lang="en-US" altLang="zh-CN" sz="2400" dirty="0">
                  <a:solidFill>
                    <a:srgbClr val="ED1C24"/>
                  </a:solidFill>
                </a:rPr>
                <a:t>cycle </a:t>
              </a:r>
              <a:endParaRPr lang="en-US" sz="2400" dirty="0">
                <a:solidFill>
                  <a:srgbClr val="ED1C24"/>
                </a:solidFill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7CCF3F3-C789-4E39-8BE4-FF2B614F1365}"/>
                </a:ext>
              </a:extLst>
            </p:cNvPr>
            <p:cNvCxnSpPr>
              <a:cxnSpLocks/>
            </p:cNvCxnSpPr>
            <p:nvPr/>
          </p:nvCxnSpPr>
          <p:spPr>
            <a:xfrm>
              <a:off x="2806925" y="3969758"/>
              <a:ext cx="1175039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A7A77F9-F05A-40F1-AD34-533D00CEFD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1479" y="3963760"/>
              <a:ext cx="912339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48B670B-A0CE-41F6-B649-2CC2AF6FA733}"/>
                </a:ext>
              </a:extLst>
            </p:cNvPr>
            <p:cNvSpPr/>
            <p:nvPr/>
          </p:nvSpPr>
          <p:spPr>
            <a:xfrm>
              <a:off x="3348568" y="3064716"/>
              <a:ext cx="315410" cy="666781"/>
            </a:xfrm>
            <a:prstGeom prst="round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solidFill>
                  <a:schemeClr val="tx2"/>
                </a:solidFill>
              </a:endParaRPr>
            </a:p>
          </p:txBody>
        </p:sp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B10AD0C3-F032-498E-BB6D-E625273EC1E2}"/>
                </a:ext>
              </a:extLst>
            </p:cNvPr>
            <p:cNvSpPr/>
            <p:nvPr/>
          </p:nvSpPr>
          <p:spPr>
            <a:xfrm>
              <a:off x="4926504" y="2870617"/>
              <a:ext cx="1706611" cy="571065"/>
            </a:xfrm>
            <a:prstGeom prst="wedgeRoundRectCallout">
              <a:avLst>
                <a:gd name="adj1" fmla="val -122804"/>
                <a:gd name="adj2" fmla="val 52239"/>
                <a:gd name="adj3" fmla="val 16667"/>
              </a:avLst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solidFill>
                  <a:schemeClr val="tx2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C2C24C-7E73-4F17-BE78-D4D5D76F1B6D}"/>
                </a:ext>
              </a:extLst>
            </p:cNvPr>
            <p:cNvSpPr/>
            <p:nvPr/>
          </p:nvSpPr>
          <p:spPr>
            <a:xfrm>
              <a:off x="1925339" y="5715576"/>
              <a:ext cx="1206951" cy="35328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>
                  <a:solidFill>
                    <a:srgbClr val="ED1C24"/>
                  </a:solidFill>
                </a:rPr>
                <a:t>102296 </a:t>
              </a:r>
              <a:r>
                <a:rPr lang="en-US" altLang="zh-CN" sz="2400" dirty="0">
                  <a:solidFill>
                    <a:srgbClr val="ED1C24"/>
                  </a:solidFill>
                </a:rPr>
                <a:t>cycle </a:t>
              </a:r>
              <a:endParaRPr lang="en-US" sz="2400" dirty="0">
                <a:solidFill>
                  <a:srgbClr val="ED1C24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C3FD31A-29EB-4B8A-9C81-2CE11ED56F1A}"/>
                </a:ext>
              </a:extLst>
            </p:cNvPr>
            <p:cNvCxnSpPr>
              <a:cxnSpLocks/>
            </p:cNvCxnSpPr>
            <p:nvPr/>
          </p:nvCxnSpPr>
          <p:spPr>
            <a:xfrm>
              <a:off x="3016228" y="5922740"/>
              <a:ext cx="1175039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1E33011-AEC7-4B59-8AC2-8E2BFDE8DC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879" y="5930615"/>
              <a:ext cx="107334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3317480-2BEF-4316-B93D-6858428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8679" y="4580177"/>
              <a:ext cx="2653301" cy="835211"/>
            </a:xfrm>
            <a:prstGeom prst="rect">
              <a:avLst/>
            </a:prstGeom>
          </p:spPr>
        </p:pic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53C678E-2E78-4079-9FCA-583C3A0ADE81}"/>
                </a:ext>
              </a:extLst>
            </p:cNvPr>
            <p:cNvSpPr/>
            <p:nvPr/>
          </p:nvSpPr>
          <p:spPr>
            <a:xfrm>
              <a:off x="3096459" y="4986818"/>
              <a:ext cx="166368" cy="666781"/>
            </a:xfrm>
            <a:prstGeom prst="round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solidFill>
                  <a:schemeClr val="tx2"/>
                </a:solidFill>
              </a:endParaRPr>
            </a:p>
          </p:txBody>
        </p:sp>
        <p:sp>
          <p:nvSpPr>
            <p:cNvPr id="22" name="Speech Bubble: Rectangle with Corners Rounded 21">
              <a:extLst>
                <a:ext uri="{FF2B5EF4-FFF2-40B4-BE49-F238E27FC236}">
                  <a16:creationId xmlns:a16="http://schemas.microsoft.com/office/drawing/2014/main" id="{DBA24863-5D35-4D3B-BF1C-0CDA46CF56CD}"/>
                </a:ext>
              </a:extLst>
            </p:cNvPr>
            <p:cNvSpPr/>
            <p:nvPr/>
          </p:nvSpPr>
          <p:spPr>
            <a:xfrm>
              <a:off x="5074300" y="4701285"/>
              <a:ext cx="1706611" cy="571065"/>
            </a:xfrm>
            <a:prstGeom prst="wedgeRoundRectCallout">
              <a:avLst>
                <a:gd name="adj1" fmla="val -155508"/>
                <a:gd name="adj2" fmla="val 65892"/>
                <a:gd name="adj3" fmla="val 16667"/>
              </a:avLst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sz="3200" dirty="0">
                <a:solidFill>
                  <a:schemeClr val="tx2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F4635E1-C92B-4305-989B-6763AC943A53}"/>
                </a:ext>
              </a:extLst>
            </p:cNvPr>
            <p:cNvSpPr/>
            <p:nvPr/>
          </p:nvSpPr>
          <p:spPr>
            <a:xfrm>
              <a:off x="5280275" y="5407151"/>
              <a:ext cx="1206951" cy="35328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ED1C24"/>
                  </a:solidFill>
                </a:rPr>
                <a:t>SQC </a:t>
              </a:r>
              <a:r>
                <a:rPr lang="en-US" altLang="zh-CN" dirty="0">
                  <a:solidFill>
                    <a:srgbClr val="ED1C24"/>
                  </a:solidFill>
                </a:rPr>
                <a:t>hit : </a:t>
              </a:r>
              <a:r>
                <a:rPr lang="en-US" dirty="0">
                  <a:solidFill>
                    <a:srgbClr val="ED1C24"/>
                  </a:solidFill>
                </a:rPr>
                <a:t>3144 </a:t>
              </a:r>
              <a:r>
                <a:rPr lang="en-US" altLang="zh-CN" dirty="0">
                  <a:solidFill>
                    <a:srgbClr val="ED1C24"/>
                  </a:solidFill>
                </a:rPr>
                <a:t>cycle </a:t>
              </a:r>
              <a:endParaRPr lang="en-US" dirty="0">
                <a:solidFill>
                  <a:srgbClr val="ED1C24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B374CA-E7F1-46F0-B5F0-9DD563001571}"/>
                </a:ext>
              </a:extLst>
            </p:cNvPr>
            <p:cNvSpPr/>
            <p:nvPr/>
          </p:nvSpPr>
          <p:spPr>
            <a:xfrm>
              <a:off x="5074300" y="3518717"/>
              <a:ext cx="1308985" cy="353283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dirty="0">
                  <a:solidFill>
                    <a:srgbClr val="ED1C24"/>
                  </a:solidFill>
                </a:rPr>
                <a:t>SQC </a:t>
              </a:r>
              <a:r>
                <a:rPr lang="en-US" altLang="zh-CN" dirty="0">
                  <a:solidFill>
                    <a:srgbClr val="ED1C24"/>
                  </a:solidFill>
                </a:rPr>
                <a:t>miss: </a:t>
              </a:r>
              <a:r>
                <a:rPr lang="en-US" dirty="0">
                  <a:solidFill>
                    <a:srgbClr val="ED1C24"/>
                  </a:solidFill>
                </a:rPr>
                <a:t>6488 </a:t>
              </a:r>
              <a:r>
                <a:rPr lang="en-US" altLang="zh-CN" dirty="0">
                  <a:solidFill>
                    <a:srgbClr val="ED1C24"/>
                  </a:solidFill>
                </a:rPr>
                <a:t>cycle </a:t>
              </a:r>
              <a:endParaRPr lang="en-US" dirty="0">
                <a:solidFill>
                  <a:srgbClr val="ED1C24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8BB1DB-305B-425A-AF46-5444EC46D556}"/>
              </a:ext>
            </a:extLst>
          </p:cNvPr>
          <p:cNvGrpSpPr/>
          <p:nvPr/>
        </p:nvGrpSpPr>
        <p:grpSpPr>
          <a:xfrm>
            <a:off x="8003887" y="1295604"/>
            <a:ext cx="2857275" cy="5152792"/>
            <a:chOff x="1887978" y="691854"/>
            <a:chExt cx="2857275" cy="5152792"/>
          </a:xfrm>
        </p:grpSpPr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FC068988-0922-4F51-A8F0-558EBF682E20}"/>
                </a:ext>
              </a:extLst>
            </p:cNvPr>
            <p:cNvSpPr/>
            <p:nvPr/>
          </p:nvSpPr>
          <p:spPr>
            <a:xfrm>
              <a:off x="1887978" y="691854"/>
              <a:ext cx="2857275" cy="472803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Go through all problem parameters</a:t>
              </a:r>
            </a:p>
          </p:txBody>
        </p:sp>
        <p:sp>
          <p:nvSpPr>
            <p:cNvPr id="27" name="Flowchart: Alternate Process 26">
              <a:extLst>
                <a:ext uri="{FF2B5EF4-FFF2-40B4-BE49-F238E27FC236}">
                  <a16:creationId xmlns:a16="http://schemas.microsoft.com/office/drawing/2014/main" id="{85A0A560-21F4-4E4C-99F0-EECD5448A525}"/>
                </a:ext>
              </a:extLst>
            </p:cNvPr>
            <p:cNvSpPr/>
            <p:nvPr/>
          </p:nvSpPr>
          <p:spPr>
            <a:xfrm>
              <a:off x="2109358" y="1487774"/>
              <a:ext cx="2414514" cy="32344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Generate one problem handle 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Flowchart: Alternate Process 27">
              <a:extLst>
                <a:ext uri="{FF2B5EF4-FFF2-40B4-BE49-F238E27FC236}">
                  <a16:creationId xmlns:a16="http://schemas.microsoft.com/office/drawing/2014/main" id="{B6ECB0BB-4B05-4598-957C-D05DB4928952}"/>
                </a:ext>
              </a:extLst>
            </p:cNvPr>
            <p:cNvSpPr/>
            <p:nvPr/>
          </p:nvSpPr>
          <p:spPr>
            <a:xfrm>
              <a:off x="2109359" y="2142420"/>
              <a:ext cx="2414514" cy="32344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Go through all solutions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9" name="Flowchart: Alternate Process 28">
              <a:extLst>
                <a:ext uri="{FF2B5EF4-FFF2-40B4-BE49-F238E27FC236}">
                  <a16:creationId xmlns:a16="http://schemas.microsoft.com/office/drawing/2014/main" id="{368932DA-F8B8-4576-A65E-185A05820F31}"/>
                </a:ext>
              </a:extLst>
            </p:cNvPr>
            <p:cNvSpPr/>
            <p:nvPr/>
          </p:nvSpPr>
          <p:spPr>
            <a:xfrm>
              <a:off x="2109359" y="2788981"/>
              <a:ext cx="2414514" cy="33632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Generate one solution handle 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0" name="Flowchart: Alternate Process 29">
              <a:extLst>
                <a:ext uri="{FF2B5EF4-FFF2-40B4-BE49-F238E27FC236}">
                  <a16:creationId xmlns:a16="http://schemas.microsoft.com/office/drawing/2014/main" id="{ED53F409-4915-4765-9248-60754EAA4CA2}"/>
                </a:ext>
              </a:extLst>
            </p:cNvPr>
            <p:cNvSpPr/>
            <p:nvPr/>
          </p:nvSpPr>
          <p:spPr>
            <a:xfrm>
              <a:off x="2109359" y="3480089"/>
              <a:ext cx="2414514" cy="33632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Go through all kernel config 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E7F565A-11B2-4122-8D71-9EBC82DD9865}"/>
                </a:ext>
              </a:extLst>
            </p:cNvPr>
            <p:cNvCxnSpPr>
              <a:stCxn id="26" idx="2"/>
              <a:endCxn id="27" idx="0"/>
            </p:cNvCxnSpPr>
            <p:nvPr/>
          </p:nvCxnSpPr>
          <p:spPr>
            <a:xfrm flipH="1">
              <a:off x="3316615" y="1164657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96FF730-0198-4469-BF16-398DCF35476C}"/>
                </a:ext>
              </a:extLst>
            </p:cNvPr>
            <p:cNvCxnSpPr/>
            <p:nvPr/>
          </p:nvCxnSpPr>
          <p:spPr>
            <a:xfrm flipH="1">
              <a:off x="3316614" y="1810891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7AE7EF1-B09C-4A79-A1E0-D2809E88C7B6}"/>
                </a:ext>
              </a:extLst>
            </p:cNvPr>
            <p:cNvCxnSpPr/>
            <p:nvPr/>
          </p:nvCxnSpPr>
          <p:spPr>
            <a:xfrm flipH="1">
              <a:off x="3316613" y="2457125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DD9F444-4D45-42A5-A064-AD259D6F2415}"/>
                </a:ext>
              </a:extLst>
            </p:cNvPr>
            <p:cNvCxnSpPr/>
            <p:nvPr/>
          </p:nvCxnSpPr>
          <p:spPr>
            <a:xfrm flipH="1">
              <a:off x="3316612" y="3134044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AA770DD-304B-4359-9143-DEC9277E93D5}"/>
                </a:ext>
              </a:extLst>
            </p:cNvPr>
            <p:cNvCxnSpPr/>
            <p:nvPr/>
          </p:nvCxnSpPr>
          <p:spPr>
            <a:xfrm flipH="1">
              <a:off x="3305827" y="3816413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lowchart: Alternate Process 35">
              <a:extLst>
                <a:ext uri="{FF2B5EF4-FFF2-40B4-BE49-F238E27FC236}">
                  <a16:creationId xmlns:a16="http://schemas.microsoft.com/office/drawing/2014/main" id="{14B06D41-2AD2-4F38-8900-247B76F186C7}"/>
                </a:ext>
              </a:extLst>
            </p:cNvPr>
            <p:cNvSpPr/>
            <p:nvPr/>
          </p:nvSpPr>
          <p:spPr>
            <a:xfrm>
              <a:off x="2098570" y="4139530"/>
              <a:ext cx="2414514" cy="33632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Generate kernel code 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2EF79B4-62F8-40EB-8971-B89698470685}"/>
                </a:ext>
              </a:extLst>
            </p:cNvPr>
            <p:cNvCxnSpPr/>
            <p:nvPr/>
          </p:nvCxnSpPr>
          <p:spPr>
            <a:xfrm flipH="1">
              <a:off x="3305826" y="4484992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Flowchart: Alternate Process 37">
              <a:extLst>
                <a:ext uri="{FF2B5EF4-FFF2-40B4-BE49-F238E27FC236}">
                  <a16:creationId xmlns:a16="http://schemas.microsoft.com/office/drawing/2014/main" id="{4A55F263-8089-4A1F-843F-4F7AF97AC2B0}"/>
                </a:ext>
              </a:extLst>
            </p:cNvPr>
            <p:cNvSpPr/>
            <p:nvPr/>
          </p:nvSpPr>
          <p:spPr>
            <a:xfrm>
              <a:off x="2098569" y="4809095"/>
              <a:ext cx="2414514" cy="33632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Launch kernel    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13F784A-1683-4738-A756-490F05CCB32A}"/>
                </a:ext>
              </a:extLst>
            </p:cNvPr>
            <p:cNvCxnSpPr/>
            <p:nvPr/>
          </p:nvCxnSpPr>
          <p:spPr>
            <a:xfrm flipH="1">
              <a:off x="3303303" y="5165312"/>
              <a:ext cx="1" cy="3231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Flowchart: Alternate Process 39">
              <a:extLst>
                <a:ext uri="{FF2B5EF4-FFF2-40B4-BE49-F238E27FC236}">
                  <a16:creationId xmlns:a16="http://schemas.microsoft.com/office/drawing/2014/main" id="{A8BEE707-8460-4550-965D-B1015877B1B4}"/>
                </a:ext>
              </a:extLst>
            </p:cNvPr>
            <p:cNvSpPr/>
            <p:nvPr/>
          </p:nvSpPr>
          <p:spPr>
            <a:xfrm>
              <a:off x="2096046" y="5508322"/>
              <a:ext cx="2414514" cy="336324"/>
            </a:xfrm>
            <a:prstGeom prst="flowChartAlternateProcess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chemeClr val="tx1"/>
                  </a:solidFill>
                </a:rPr>
                <a:t>Gather performance data  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47815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status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452084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Tensile Conv use a Auto-Tuning method which is to auto generate convolution 1x1 forward kernel code and achieve peak performance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all WHCKN size combination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fusion opts: convolution + </a:t>
            </a:r>
            <a:r>
              <a:rPr lang="en-US" altLang="zh-CN" dirty="0" err="1"/>
              <a:t>relu</a:t>
            </a:r>
            <a:r>
              <a:rPr lang="en-US" altLang="zh-CN" dirty="0"/>
              <a:t>/</a:t>
            </a:r>
            <a:r>
              <a:rPr lang="en-US" altLang="zh-CN" dirty="0" err="1"/>
              <a:t>Prelu</a:t>
            </a:r>
            <a:r>
              <a:rPr lang="en-US" altLang="zh-CN" dirty="0"/>
              <a:t> + bias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brute-force search and genetic search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different hardware ISA: gfx900 , gfx803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Supply C++ library and interface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offline and online tuning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Supporting Baidu Anakin project </a:t>
            </a:r>
          </a:p>
        </p:txBody>
      </p:sp>
    </p:spTree>
    <p:extLst>
      <p:ext uri="{BB962C8B-B14F-4D97-AF65-F5344CB8AC3E}">
        <p14:creationId xmlns:p14="http://schemas.microsoft.com/office/powerpoint/2010/main" val="22352944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Performance – gfx800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428514" y="655638"/>
            <a:ext cx="10442686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Conclusion: TensileConv could achieve better performance on Fiji  than P4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Conv 1x1 performance on AMD Fiji vs NVIDIA P4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20 different size combination for Conv 1x1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Left figure shows P4 minus Fiji runtime, the higher the better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Right table is the test size and specific value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P4 data comes from Anakin project team 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C55A5AB-FA82-4D53-9BC0-49DC947064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0846365"/>
              </p:ext>
            </p:extLst>
          </p:nvPr>
        </p:nvGraphicFramePr>
        <p:xfrm>
          <a:off x="812800" y="372235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9F56384-6D2B-492A-907E-5B7C90541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938889"/>
              </p:ext>
            </p:extLst>
          </p:nvPr>
        </p:nvGraphicFramePr>
        <p:xfrm>
          <a:off x="6273912" y="2373565"/>
          <a:ext cx="5486400" cy="4248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4777638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384597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9756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958440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80972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914813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1191533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025531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4448064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ID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Tensile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Diff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Efficiency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4151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83.6218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57.2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26.4218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691899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37.025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7.325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689435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86.1411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24.7411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19.50%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47950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69.4365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62.6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6.8365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350267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137.124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114.8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22.324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51663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245.688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218.5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27.188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219293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59.4628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20.6628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88185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23.4109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1.0109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26.70%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61606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41.5939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2.9939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31.00%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222130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78.3258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4.1258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707768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47.6812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8.3812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30.40%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081426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61.8133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-18.1867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401108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141.149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149.3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-8.151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975263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263.045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267.1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-4.055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35.80%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862877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68.8487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38.3487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787567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45.2395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12.3395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36.30%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632176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56.222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63.9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-7.678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37.40%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377542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131.123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128.9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2.223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37.10%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575267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249.129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755301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76.4928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21.9928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43.80%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142676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145.869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44.769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47.30%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87318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282.918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91.218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49.90%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11310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2899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3"/>
            <a:ext cx="11331798" cy="545235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Performance – gfx900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428514" y="655638"/>
            <a:ext cx="10442686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Conclusion: TensileConv could achieve better performance than MIOpen in some cases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Conv 1x1 performance on Vega64, fix dpm7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28 different size combination for Conv 1x1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Left figure shows MIOpen minus TensileConv runtime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Right table is the test size and specific value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Using MIOpen 1.7 cloned from </a:t>
            </a:r>
            <a:r>
              <a:rPr lang="en-US" altLang="zh-CN" dirty="0" err="1"/>
              <a:t>github</a:t>
            </a:r>
            <a:r>
              <a:rPr lang="en-US" altLang="zh-CN" dirty="0"/>
              <a:t> on Jan. 25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Set MIOPEN_FIND_ENFORCE=4 environment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Using </a:t>
            </a:r>
            <a:r>
              <a:rPr lang="en-US" altLang="zh-CN" dirty="0" err="1"/>
              <a:t>MIOpenDriver</a:t>
            </a:r>
            <a:r>
              <a:rPr lang="en-US" altLang="zh-CN" dirty="0"/>
              <a:t> and set –s 1 parameter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478D416-71BF-4DD9-96B8-8DE418741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396381"/>
              </p:ext>
            </p:extLst>
          </p:nvPr>
        </p:nvGraphicFramePr>
        <p:xfrm>
          <a:off x="812800" y="3429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285CAD-5214-4DB5-8300-35147A71A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366422"/>
              </p:ext>
            </p:extLst>
          </p:nvPr>
        </p:nvGraphicFramePr>
        <p:xfrm>
          <a:off x="6273911" y="2232163"/>
          <a:ext cx="5486400" cy="4248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10903928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2151657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2569738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2611368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555856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153501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239471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978673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7222827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ID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W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Tensile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Diff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Efficiency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4416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2048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83.6218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57.2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26.4218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511434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37.025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7.325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859016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86.1411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61.4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24.7411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19.50%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260185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69.4365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62.6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6.8365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746170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137.124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114.8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22.324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28108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245.688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218.5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27.188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137118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59.4628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20.6628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721133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23.4109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1.0109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26.70%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9633718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41.5939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2.9939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31.00%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5965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78.3258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74.2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4.1258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888829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47.6812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8.3812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30.40%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003253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61.8133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-18.1867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29.90%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134048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141.149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149.3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-8.151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598548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263.045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267.1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-4.055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35.80%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694648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68.8487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30.5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38.3487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7566706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45.2395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32.9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12.3395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36.30%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560785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56.222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63.9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-7.678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37.40%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58428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131.123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128.9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2.223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37.10%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184189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249.129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240.9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8.229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39.70%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306717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76.4928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54.5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21.9928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43.80%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2816357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145.869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44.769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47.30%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745778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282.918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191.7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91.218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49.90%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8223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1347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38568" y="110403"/>
            <a:ext cx="11331798" cy="1349429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Auto tuning – Genetic algorithm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60B63D-51E7-4B1C-99E5-D4B63933D515}"/>
              </a:ext>
            </a:extLst>
          </p:cNvPr>
          <p:cNvSpPr txBox="1">
            <a:spLocks/>
          </p:cNvSpPr>
          <p:nvPr/>
        </p:nvSpPr>
        <p:spPr bwMode="auto">
          <a:xfrm>
            <a:off x="428513" y="655638"/>
            <a:ext cx="11000587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Conclusion: genetic algorithm searching method can greatly shortened the tuning time, while achieve almost the same </a:t>
            </a:r>
            <a:r>
              <a:rPr lang="en-US" altLang="zh-CN"/>
              <a:t>performance </a:t>
            </a:r>
            <a:endParaRPr lang="en-US" altLang="zh-CN" dirty="0"/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Test 10 different size on Vega64 fix dpm7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using both brute-force and genetic for each case 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Figure 1 shows the searching time</a:t>
            </a:r>
          </a:p>
          <a:p>
            <a:pPr marL="836476" lvl="2"/>
            <a:r>
              <a:rPr lang="en-US" altLang="zh-CN" dirty="0"/>
              <a:t>       the less the better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Figure 2 shows the kernel performance </a:t>
            </a:r>
          </a:p>
          <a:p>
            <a:pPr marL="836476" lvl="2"/>
            <a:r>
              <a:rPr lang="en-US" altLang="zh-CN" dirty="0"/>
              <a:t>	     the closer the better 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Right table show the specific value 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1A41C8-9BD4-4AF9-8609-BAC750179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532255"/>
              </p:ext>
            </p:extLst>
          </p:nvPr>
        </p:nvGraphicFramePr>
        <p:xfrm>
          <a:off x="428512" y="4129893"/>
          <a:ext cx="5675955" cy="2189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089">
                  <a:extLst>
                    <a:ext uri="{9D8B030D-6E8A-4147-A177-3AD203B41FA5}">
                      <a16:colId xmlns:a16="http://schemas.microsoft.com/office/drawing/2014/main" val="538982558"/>
                    </a:ext>
                  </a:extLst>
                </a:gridCol>
                <a:gridCol w="849732">
                  <a:extLst>
                    <a:ext uri="{9D8B030D-6E8A-4147-A177-3AD203B41FA5}">
                      <a16:colId xmlns:a16="http://schemas.microsoft.com/office/drawing/2014/main" val="34375449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42556991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65160036"/>
                    </a:ext>
                  </a:extLst>
                </a:gridCol>
                <a:gridCol w="804334">
                  <a:extLst>
                    <a:ext uri="{9D8B030D-6E8A-4147-A177-3AD203B41FA5}">
                      <a16:colId xmlns:a16="http://schemas.microsoft.com/office/drawing/2014/main" val="3090963069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val="4192764763"/>
                    </a:ext>
                  </a:extLst>
                </a:gridCol>
                <a:gridCol w="931334">
                  <a:extLst>
                    <a:ext uri="{9D8B030D-6E8A-4147-A177-3AD203B41FA5}">
                      <a16:colId xmlns:a16="http://schemas.microsoft.com/office/drawing/2014/main" val="381539655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brust</a:t>
                      </a:r>
                      <a:r>
                        <a:rPr lang="en-US" sz="1100" u="none" strike="noStrike" dirty="0">
                          <a:effectLst/>
                        </a:rPr>
                        <a:t> search</a:t>
                      </a:r>
                    </a:p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time(s)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gene search</a:t>
                      </a:r>
                    </a:p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time(s)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brust</a:t>
                      </a:r>
                      <a:r>
                        <a:rPr lang="en-US" sz="1100" u="none" strike="noStrike" dirty="0">
                          <a:effectLst/>
                        </a:rPr>
                        <a:t> perf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gene perf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brust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altLang="zh-CN" sz="1100" u="none" strike="noStrike" dirty="0">
                          <a:effectLst/>
                        </a:rPr>
                        <a:t>kernel </a:t>
                      </a:r>
                      <a:endParaRPr lang="en-US" sz="11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run time(us)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 kernel </a:t>
                      </a:r>
                    </a:p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 time (us)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50867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146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53.60%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48.90%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459.774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503.152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48259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119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46.70%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46.80%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263.547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262.969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87553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45.30%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45.20%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272.007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272.169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5728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58.20%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57.90%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211.634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212.701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31582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49.20%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49.60%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250.48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248.287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373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58.00%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57.90%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106.195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106.388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2146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60.10%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60.00%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204.819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205.279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06549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126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58.20%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53.10%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211.679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232.094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728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195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54.40%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54.20%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904.761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909.043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1621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144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57.80%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57.90%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426.336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425.402</a:t>
                      </a:r>
                    </a:p>
                  </a:txBody>
                  <a:tcPr marL="6350" marR="6350" marT="635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88173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BE8ABB-EED2-41C7-A56B-EDB2688C68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6157726"/>
              </p:ext>
            </p:extLst>
          </p:nvPr>
        </p:nvGraphicFramePr>
        <p:xfrm>
          <a:off x="7008812" y="1092200"/>
          <a:ext cx="4116388" cy="23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D404DD0-D1CE-433A-91B8-D1B791BB8C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03517"/>
              </p:ext>
            </p:extLst>
          </p:nvPr>
        </p:nvGraphicFramePr>
        <p:xfrm>
          <a:off x="7008812" y="3889567"/>
          <a:ext cx="4294188" cy="2429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4736833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4"/>
            <a:ext cx="11331798" cy="545234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Library and API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331798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TensileConv</a:t>
            </a:r>
            <a:r>
              <a:rPr lang="en-US" altLang="zh-CN" dirty="0"/>
              <a:t> could use as an independent Tool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TensileConv</a:t>
            </a:r>
            <a:r>
              <a:rPr lang="en-US" altLang="zh-CN" dirty="0"/>
              <a:t> also generate a static library that could easily port to other project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 err="1"/>
              <a:t>TensileConv</a:t>
            </a:r>
            <a:r>
              <a:rPr lang="en-US" altLang="zh-CN" dirty="0"/>
              <a:t> library offers very easy-using </a:t>
            </a:r>
            <a:r>
              <a:rPr lang="en-US" altLang="zh-CN" dirty="0" err="1"/>
              <a:t>c++</a:t>
            </a:r>
            <a:r>
              <a:rPr lang="en-US" altLang="zh-CN" dirty="0"/>
              <a:t> API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Keeping a database for auto select tuning method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Using best solution </a:t>
            </a:r>
            <a:r>
              <a:rPr lang="en-US" altLang="zh-CN" dirty="0" err="1"/>
              <a:t>keeped</a:t>
            </a:r>
            <a:r>
              <a:rPr lang="en-US" altLang="zh-CN" dirty="0"/>
              <a:t> in the database without searching </a:t>
            </a:r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User could chose </a:t>
            </a:r>
            <a:r>
              <a:rPr lang="en-US" altLang="zh-CN" dirty="0" err="1"/>
              <a:t>wether</a:t>
            </a:r>
            <a:r>
              <a:rPr lang="en-US" altLang="zh-CN"/>
              <a:t> to use brute-force or genetic algorithm searching method </a:t>
            </a:r>
            <a:endParaRPr lang="en-US" altLang="zh-CN" dirty="0"/>
          </a:p>
          <a:p>
            <a:pPr marL="1636439" lvl="3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Auto filter the bad performance parameter </a:t>
            </a:r>
          </a:p>
          <a:p>
            <a:pPr marL="1179376" lvl="2" indent="-342900">
              <a:buFont typeface="Arial" panose="020B0604020202020204" pitchFamily="34" charset="0"/>
              <a:buChar char="•"/>
            </a:pPr>
            <a:r>
              <a:rPr lang="en-US" altLang="zh-CN" dirty="0"/>
              <a:t>Result verification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This library has been used in Baidu Anakin project </a:t>
            </a:r>
          </a:p>
          <a:p>
            <a:pPr marL="836476" lvl="2"/>
            <a:endParaRPr lang="en-US" altLang="zh-CN" dirty="0"/>
          </a:p>
          <a:p>
            <a:pPr marL="836476" lvl="2"/>
            <a:r>
              <a:rPr lang="en-US" altLang="zh-CN" dirty="0"/>
              <a:t>Example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2E687-E7EB-4B7C-85AD-A10000E3F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88" y="3887107"/>
            <a:ext cx="11773737" cy="63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114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4"/>
            <a:ext cx="11331798" cy="545234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Future work  </a:t>
            </a:r>
            <a:r>
              <a:rPr lang="en-US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331798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more ISA: Vega20… 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more operations: backward-weight, backward </a:t>
            </a:r>
            <a:r>
              <a:rPr lang="en-US" altLang="zh-CN"/>
              <a:t>data ,…   </a:t>
            </a:r>
            <a:endParaRPr lang="en-US" altLang="zh-CN" dirty="0"/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more kernel size: 1x3 1x5 3x1…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Support more data type: fp16…</a:t>
            </a:r>
          </a:p>
          <a:p>
            <a:pPr marL="722313" lvl="1" indent="-342900">
              <a:buFont typeface="Arial" panose="020B0604020202020204" pitchFamily="34" charset="0"/>
              <a:buChar char="•"/>
            </a:pPr>
            <a:r>
              <a:rPr lang="en-US" dirty="0"/>
              <a:t>More </a:t>
            </a:r>
            <a:r>
              <a:rPr lang="en-US" altLang="zh-CN" dirty="0"/>
              <a:t>kernel </a:t>
            </a:r>
            <a:r>
              <a:rPr lang="en-US" dirty="0"/>
              <a:t>tuning </a:t>
            </a:r>
            <a:r>
              <a:rPr lang="en-US" altLang="zh-CN" dirty="0"/>
              <a:t>parameter , prefetch method, tuning method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60416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428514" y="110404"/>
            <a:ext cx="11331798" cy="545234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lang="en-US" sz="2200" b="1" i="1" kern="1200" cap="all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defTabSz="912813" rtl="0" eaLnBrk="0" fontAlgn="base" hangingPunct="0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defTabSz="912813" rtl="0" fontAlgn="base">
              <a:spcBef>
                <a:spcPct val="0"/>
              </a:spcBef>
              <a:spcAft>
                <a:spcPct val="0"/>
              </a:spcAft>
              <a:defRPr sz="2200" b="1" i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altLang="zh-CN" sz="2600" i="0" dirty="0">
                <a:solidFill>
                  <a:schemeClr val="tx1"/>
                </a:solidFill>
                <a:latin typeface="Calibri" pitchFamily="34" charset="0"/>
                <a:cs typeface="+mj-cs"/>
              </a:rPr>
              <a:t>Only for fun – remote GUI  </a:t>
            </a:r>
            <a:endParaRPr lang="en-US" sz="2600" i="0" dirty="0">
              <a:solidFill>
                <a:schemeClr val="tx1"/>
              </a:solidFill>
              <a:latin typeface="Calibri" pitchFamily="34" charset="0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C9B03-5BE1-4511-AC15-56D68EF411D5}"/>
              </a:ext>
            </a:extLst>
          </p:cNvPr>
          <p:cNvSpPr txBox="1">
            <a:spLocks/>
          </p:cNvSpPr>
          <p:nvPr/>
        </p:nvSpPr>
        <p:spPr bwMode="auto">
          <a:xfrm>
            <a:off x="308227" y="655637"/>
            <a:ext cx="11331798" cy="58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0" fontAlgn="base" hangingPunct="0">
              <a:spcBef>
                <a:spcPts val="800"/>
              </a:spcBef>
              <a:spcAft>
                <a:spcPct val="0"/>
              </a:spcAft>
              <a:buClr>
                <a:schemeClr val="tx1"/>
              </a:buClr>
              <a:buFont typeface="Wingdings 3" panose="05040102010807070707" pitchFamily="18" charset="2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4570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9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126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799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189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251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tx1"/>
              </a:buClr>
              <a:buFont typeface="Calibri" panose="020F0502020204030204" pitchFamily="34" charset="0"/>
              <a:buNone/>
              <a:defRPr sz="1600" b="1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5314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2313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TensileConvGUI">
            <a:extLst>
              <a:ext uri="{FF2B5EF4-FFF2-40B4-BE49-F238E27FC236}">
                <a16:creationId xmlns:a16="http://schemas.microsoft.com/office/drawing/2014/main" id="{4CE1FCD0-30F0-46FD-93B6-D13B24D738ED}"/>
              </a:ext>
            </a:extLst>
          </p:cNvPr>
          <p:cNvPicPr/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292" y="1070072"/>
            <a:ext cx="8272426" cy="4934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48625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AMD WIDE WHT">
  <a:themeElements>
    <a:clrScheme name="AMD Theme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9650A0"/>
      </a:accent5>
      <a:accent6>
        <a:srgbClr val="C7C8CA"/>
      </a:accent6>
      <a:hlink>
        <a:srgbClr val="A6CE39"/>
      </a:hlink>
      <a:folHlink>
        <a:srgbClr val="C7C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fontAlgn="auto">
          <a:spcBef>
            <a:spcPts val="0"/>
          </a:spcBef>
          <a:spcAft>
            <a:spcPts val="0"/>
          </a:spcAft>
          <a:defRPr sz="3200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anchor="ctr" anchorCtr="0"/>
      <a:lstStyle>
        <a:defPPr marL="0" marR="0" indent="0" algn="l" defTabSz="914400" rtl="0" eaLnBrk="1" fontAlgn="auto" latinLnBrk="0" hangingPunct="1">
          <a:lnSpc>
            <a:spcPct val="90000"/>
          </a:lnSpc>
          <a:spcBef>
            <a:spcPts val="300"/>
          </a:spcBef>
          <a:spcAft>
            <a:spcPts val="300"/>
          </a:spcAft>
          <a:buClr>
            <a:srgbClr val="FFFFFF"/>
          </a:buClr>
          <a:buSzTx/>
          <a:buFont typeface="Wingdings 3" pitchFamily="18" charset="2"/>
          <a:buNone/>
          <a:tabLst/>
          <a:defRPr kumimoji="0" sz="20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+mj-lt"/>
            <a:ea typeface="MS PGothic" pitchFamily="34" charset="-128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AMD STANDARD WHT - ver6">
  <a:themeElements>
    <a:clrScheme name="AMD Theme">
      <a:dk1>
        <a:sysClr val="windowText" lastClr="000000"/>
      </a:dk1>
      <a:lt1>
        <a:sysClr val="window" lastClr="FFFFFF"/>
      </a:lt1>
      <a:dk2>
        <a:srgbClr val="FFFFFF"/>
      </a:dk2>
      <a:lt2>
        <a:srgbClr val="000000"/>
      </a:lt2>
      <a:accent1>
        <a:srgbClr val="F26522"/>
      </a:accent1>
      <a:accent2>
        <a:srgbClr val="ED1C24"/>
      </a:accent2>
      <a:accent3>
        <a:srgbClr val="00AAB5"/>
      </a:accent3>
      <a:accent4>
        <a:srgbClr val="A6CE39"/>
      </a:accent4>
      <a:accent5>
        <a:srgbClr val="9650A0"/>
      </a:accent5>
      <a:accent6>
        <a:srgbClr val="C7C8CA"/>
      </a:accent6>
      <a:hlink>
        <a:srgbClr val="A6CE39"/>
      </a:hlink>
      <a:folHlink>
        <a:srgbClr val="C7C8C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fontAlgn="auto">
          <a:spcBef>
            <a:spcPts val="0"/>
          </a:spcBef>
          <a:spcAft>
            <a:spcPts val="0"/>
          </a:spcAft>
          <a:defRPr sz="3200" dirty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anchor="ctr" anchorCtr="0"/>
      <a:lstStyle>
        <a:defPPr marL="0" marR="0" indent="0" algn="l" defTabSz="914400" rtl="0" eaLnBrk="1" fontAlgn="auto" latinLnBrk="0" hangingPunct="1">
          <a:lnSpc>
            <a:spcPct val="90000"/>
          </a:lnSpc>
          <a:spcBef>
            <a:spcPts val="300"/>
          </a:spcBef>
          <a:spcAft>
            <a:spcPts val="300"/>
          </a:spcAft>
          <a:buClr>
            <a:srgbClr val="FFFFFF"/>
          </a:buClr>
          <a:buSzTx/>
          <a:buFont typeface="Wingdings 3" pitchFamily="18" charset="2"/>
          <a:buNone/>
          <a:tabLst/>
          <a:defRPr kumimoji="0" sz="20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+mj-lt"/>
            <a:ea typeface="MS PGothic" pitchFamily="34" charset="-128"/>
            <a:cs typeface="+mn-cs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ontrol xmlns="http://schemas.microsoft.com/VisualStudio/2011/storyboarding/control">
  <Id Name="f509eb23-35dd-452e-b603-87256e73c68f" Revision="1" Stencil="System.MyShapes" StencilVersion="1.0"/>
</Control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11CDCC-0C50-48CC-AFCC-3B9750DC97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6B1703-BB68-4AC9-A006-EA4DE485936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7023AC22-A3B2-4C36-B05A-9DBED1C5B9A6}">
  <ds:schemaRefs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AMD WIDE WHT</Template>
  <TotalTime>8060</TotalTime>
  <Words>1103</Words>
  <Application>Microsoft Office PowerPoint</Application>
  <PresentationFormat>Custom</PresentationFormat>
  <Paragraphs>582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 3</vt:lpstr>
      <vt:lpstr>AMD WIDE WHT</vt:lpstr>
      <vt:lpstr>AMD STANDARD WHT - ver6</vt:lpstr>
      <vt:lpstr>TensileConv update </vt:lpstr>
      <vt:lpstr>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Advanced Micro Devices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Advanced Micro Devices</dc:creator>
  <cp:lastModifiedBy>Wang, Fei</cp:lastModifiedBy>
  <cp:revision>601</cp:revision>
  <cp:lastPrinted>2013-07-20T14:31:32Z</cp:lastPrinted>
  <dcterms:created xsi:type="dcterms:W3CDTF">2013-09-12T03:23:02Z</dcterms:created>
  <dcterms:modified xsi:type="dcterms:W3CDTF">2019-03-08T15:30:17Z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0x01010064C402F5ED259A43B06C64BCBDB7DBD4</vt:lpwstr>
  </property>
</Properties>
</file>