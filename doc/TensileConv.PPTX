
<file path=[Content_Types].xml><?xml version="1.0" encoding="utf-8"?>
<Types xmlns="http://schemas.openxmlformats.org/package/2006/content-types">
  <Default Extension="png" ContentType="image/png"/>
  <Default Extension="tmp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4026" r:id="rId5"/>
  </p:sldMasterIdLst>
  <p:notesMasterIdLst>
    <p:notesMasterId r:id="rId21"/>
  </p:notesMasterIdLst>
  <p:handoutMasterIdLst>
    <p:handoutMasterId r:id="rId22"/>
  </p:handoutMasterIdLst>
  <p:sldIdLst>
    <p:sldId id="298" r:id="rId6"/>
    <p:sldId id="272" r:id="rId7"/>
    <p:sldId id="383" r:id="rId8"/>
    <p:sldId id="387" r:id="rId9"/>
    <p:sldId id="384" r:id="rId10"/>
    <p:sldId id="386" r:id="rId11"/>
    <p:sldId id="385" r:id="rId12"/>
    <p:sldId id="378" r:id="rId13"/>
    <p:sldId id="348" r:id="rId14"/>
    <p:sldId id="379" r:id="rId15"/>
    <p:sldId id="375" r:id="rId16"/>
    <p:sldId id="376" r:id="rId17"/>
    <p:sldId id="382" r:id="rId18"/>
    <p:sldId id="380" r:id="rId19"/>
    <p:sldId id="381" r:id="rId20"/>
  </p:sldIdLst>
  <p:sldSz cx="12188825" cy="6858000"/>
  <p:notesSz cx="7102475" cy="93884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13">
          <p15:clr>
            <a:srgbClr val="A4A3A4"/>
          </p15:clr>
        </p15:guide>
        <p15:guide id="2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D1C24"/>
    <a:srgbClr val="F2F2F2"/>
    <a:srgbClr val="00AAB5"/>
    <a:srgbClr val="767DC5"/>
    <a:srgbClr val="F26522"/>
    <a:srgbClr val="A6CE39"/>
    <a:srgbClr val="F1FCFD"/>
    <a:srgbClr val="D6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17" autoAdjust="0"/>
    <p:restoredTop sz="94291" autoAdjust="0"/>
  </p:normalViewPr>
  <p:slideViewPr>
    <p:cSldViewPr snapToGrid="0" snapToObjects="1">
      <p:cViewPr varScale="1">
        <p:scale>
          <a:sx n="68" d="100"/>
          <a:sy n="68" d="100"/>
        </p:scale>
        <p:origin x="96" y="3912"/>
      </p:cViewPr>
      <p:guideLst>
        <p:guide orient="horz" pos="413"/>
        <p:guide pos="369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>
        <p:scale>
          <a:sx n="190" d="100"/>
          <a:sy n="190" d="100"/>
        </p:scale>
        <p:origin x="-96" y="3222"/>
      </p:cViewPr>
      <p:guideLst>
        <p:guide orient="horz" pos="2957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E7E7BDC-9D46-4501-9BD8-48ABBF76954C}" type="datetimeFigureOut">
              <a:rPr lang="en-US"/>
              <a:pPr>
                <a:defRPr/>
              </a:pPr>
              <a:t>9/21/2018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6988"/>
            <a:ext cx="3078163" cy="469900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1111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725" y="8916988"/>
            <a:ext cx="3078163" cy="469900"/>
          </a:xfrm>
          <a:prstGeom prst="rect">
            <a:avLst/>
          </a:prstGeom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D2C974A-4F33-4C75-8C38-341A58B151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67872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latin typeface="+mn-lt"/>
                <a:cs typeface="+mn-cs"/>
              </a:defRPr>
            </a:lvl1pPr>
          </a:lstStyle>
          <a:p>
            <a:pPr>
              <a:defRPr/>
            </a:pPr>
            <a:fld id="{F5C75CB6-FC3E-4E76-855D-3C51A5B278B8}" type="datetimeFigureOut">
              <a:rPr lang="en-US"/>
              <a:pPr>
                <a:defRPr/>
              </a:pPr>
              <a:t>9/21/2018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04850"/>
            <a:ext cx="6254750" cy="3519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7825" y="4483100"/>
            <a:ext cx="6346825" cy="4224338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6988"/>
            <a:ext cx="3078163" cy="469900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1111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6988"/>
            <a:ext cx="3078163" cy="469900"/>
          </a:xfrm>
          <a:prstGeom prst="rect">
            <a:avLst/>
          </a:prstGeom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4CBEBED-4F4B-4D80-A512-40924A3BF1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865624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115888" indent="-115888" algn="l" rtl="0" eaLnBrk="0" fontAlgn="base" hangingPunct="0">
      <a:spcBef>
        <a:spcPct val="30000"/>
      </a:spcBef>
      <a:spcAft>
        <a:spcPct val="0"/>
      </a:spcAft>
      <a:buFont typeface="Wingdings 3" panose="05040102010807070707" pitchFamily="18" charset="2"/>
      <a:buChar char="}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406400" indent="-171450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73088" indent="-115888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14935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6964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28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26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01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22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98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83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833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38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5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52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37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984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18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0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12"/>
          <p:cNvSpPr/>
          <p:nvPr userDrawn="1"/>
        </p:nvSpPr>
        <p:spPr>
          <a:xfrm>
            <a:off x="-15875" y="3327400"/>
            <a:ext cx="7550150" cy="3554413"/>
          </a:xfrm>
          <a:custGeom>
            <a:avLst/>
            <a:gdLst>
              <a:gd name="connsiteX0" fmla="*/ 0 w 11532358"/>
              <a:gd name="connsiteY0" fmla="*/ 4292220 h 4292220"/>
              <a:gd name="connsiteX1" fmla="*/ 4257281 w 11532358"/>
              <a:gd name="connsiteY1" fmla="*/ 0 h 4292220"/>
              <a:gd name="connsiteX2" fmla="*/ 11532358 w 11532358"/>
              <a:gd name="connsiteY2" fmla="*/ 0 h 4292220"/>
              <a:gd name="connsiteX3" fmla="*/ 7275077 w 11532358"/>
              <a:gd name="connsiteY3" fmla="*/ 4292220 h 4292220"/>
              <a:gd name="connsiteX4" fmla="*/ 0 w 11532358"/>
              <a:gd name="connsiteY4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0 w 11532358"/>
              <a:gd name="connsiteY5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3271426 w 11532358"/>
              <a:gd name="connsiteY5" fmla="*/ 4291864 h 4292220"/>
              <a:gd name="connsiteX6" fmla="*/ 0 w 11532358"/>
              <a:gd name="connsiteY6" fmla="*/ 4292220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0 w 8260932"/>
              <a:gd name="connsiteY5" fmla="*/ 4291864 h 4292220"/>
              <a:gd name="connsiteX0" fmla="*/ 0 w 8260932"/>
              <a:gd name="connsiteY0" fmla="*/ 4291864 h 4292220"/>
              <a:gd name="connsiteX1" fmla="*/ 682426 w 8260932"/>
              <a:gd name="connsiteY1" fmla="*/ 325590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0 w 8260932"/>
              <a:gd name="connsiteY5" fmla="*/ 4291864 h 4292220"/>
              <a:gd name="connsiteX0" fmla="*/ 40907 w 7578507"/>
              <a:gd name="connsiteY0" fmla="*/ 3486646 h 4292220"/>
              <a:gd name="connsiteX1" fmla="*/ 1 w 7578507"/>
              <a:gd name="connsiteY1" fmla="*/ 325590 h 4292220"/>
              <a:gd name="connsiteX2" fmla="*/ 303430 w 7578507"/>
              <a:gd name="connsiteY2" fmla="*/ 0 h 4292220"/>
              <a:gd name="connsiteX3" fmla="*/ 7578507 w 7578507"/>
              <a:gd name="connsiteY3" fmla="*/ 0 h 4292220"/>
              <a:gd name="connsiteX4" fmla="*/ 3321226 w 7578507"/>
              <a:gd name="connsiteY4" fmla="*/ 4292220 h 4292220"/>
              <a:gd name="connsiteX5" fmla="*/ 40907 w 7578507"/>
              <a:gd name="connsiteY5" fmla="*/ 3486646 h 4292220"/>
              <a:gd name="connsiteX0" fmla="*/ 13612 w 7551212"/>
              <a:gd name="connsiteY0" fmla="*/ 3486646 h 4292220"/>
              <a:gd name="connsiteX1" fmla="*/ 1 w 7551212"/>
              <a:gd name="connsiteY1" fmla="*/ 352885 h 4292220"/>
              <a:gd name="connsiteX2" fmla="*/ 276135 w 7551212"/>
              <a:gd name="connsiteY2" fmla="*/ 0 h 4292220"/>
              <a:gd name="connsiteX3" fmla="*/ 7551212 w 7551212"/>
              <a:gd name="connsiteY3" fmla="*/ 0 h 4292220"/>
              <a:gd name="connsiteX4" fmla="*/ 3293931 w 7551212"/>
              <a:gd name="connsiteY4" fmla="*/ 4292220 h 4292220"/>
              <a:gd name="connsiteX5" fmla="*/ 13612 w 7551212"/>
              <a:gd name="connsiteY5" fmla="*/ 3486646 h 4292220"/>
              <a:gd name="connsiteX0" fmla="*/ 13612 w 7551212"/>
              <a:gd name="connsiteY0" fmla="*/ 3486646 h 3555241"/>
              <a:gd name="connsiteX1" fmla="*/ 1 w 7551212"/>
              <a:gd name="connsiteY1" fmla="*/ 352885 h 3555241"/>
              <a:gd name="connsiteX2" fmla="*/ 276135 w 7551212"/>
              <a:gd name="connsiteY2" fmla="*/ 0 h 3555241"/>
              <a:gd name="connsiteX3" fmla="*/ 7551212 w 7551212"/>
              <a:gd name="connsiteY3" fmla="*/ 0 h 3555241"/>
              <a:gd name="connsiteX4" fmla="*/ 3976320 w 7551212"/>
              <a:gd name="connsiteY4" fmla="*/ 3555241 h 3555241"/>
              <a:gd name="connsiteX5" fmla="*/ 13612 w 7551212"/>
              <a:gd name="connsiteY5" fmla="*/ 3486646 h 3555241"/>
              <a:gd name="connsiteX0" fmla="*/ 13612 w 7551212"/>
              <a:gd name="connsiteY0" fmla="*/ 3568532 h 3568532"/>
              <a:gd name="connsiteX1" fmla="*/ 1 w 7551212"/>
              <a:gd name="connsiteY1" fmla="*/ 352885 h 3568532"/>
              <a:gd name="connsiteX2" fmla="*/ 276135 w 7551212"/>
              <a:gd name="connsiteY2" fmla="*/ 0 h 3568532"/>
              <a:gd name="connsiteX3" fmla="*/ 7551212 w 7551212"/>
              <a:gd name="connsiteY3" fmla="*/ 0 h 3568532"/>
              <a:gd name="connsiteX4" fmla="*/ 3976320 w 7551212"/>
              <a:gd name="connsiteY4" fmla="*/ 3555241 h 3568532"/>
              <a:gd name="connsiteX5" fmla="*/ 13612 w 7551212"/>
              <a:gd name="connsiteY5" fmla="*/ 3568532 h 3568532"/>
              <a:gd name="connsiteX0" fmla="*/ 0 w 7619487"/>
              <a:gd name="connsiteY0" fmla="*/ 3759601 h 3759601"/>
              <a:gd name="connsiteX1" fmla="*/ 68276 w 7619487"/>
              <a:gd name="connsiteY1" fmla="*/ 352885 h 3759601"/>
              <a:gd name="connsiteX2" fmla="*/ 344410 w 7619487"/>
              <a:gd name="connsiteY2" fmla="*/ 0 h 3759601"/>
              <a:gd name="connsiteX3" fmla="*/ 7619487 w 7619487"/>
              <a:gd name="connsiteY3" fmla="*/ 0 h 3759601"/>
              <a:gd name="connsiteX4" fmla="*/ 4044595 w 7619487"/>
              <a:gd name="connsiteY4" fmla="*/ 3555241 h 3759601"/>
              <a:gd name="connsiteX5" fmla="*/ 0 w 7619487"/>
              <a:gd name="connsiteY5" fmla="*/ 3759601 h 3759601"/>
              <a:gd name="connsiteX0" fmla="*/ 0 w 7947034"/>
              <a:gd name="connsiteY0" fmla="*/ 3991612 h 3991612"/>
              <a:gd name="connsiteX1" fmla="*/ 395823 w 7947034"/>
              <a:gd name="connsiteY1" fmla="*/ 352885 h 3991612"/>
              <a:gd name="connsiteX2" fmla="*/ 671957 w 7947034"/>
              <a:gd name="connsiteY2" fmla="*/ 0 h 3991612"/>
              <a:gd name="connsiteX3" fmla="*/ 7947034 w 7947034"/>
              <a:gd name="connsiteY3" fmla="*/ 0 h 3991612"/>
              <a:gd name="connsiteX4" fmla="*/ 4372142 w 7947034"/>
              <a:gd name="connsiteY4" fmla="*/ 3555241 h 3991612"/>
              <a:gd name="connsiteX5" fmla="*/ 0 w 7947034"/>
              <a:gd name="connsiteY5" fmla="*/ 3991612 h 3991612"/>
              <a:gd name="connsiteX0" fmla="*/ 0 w 7551249"/>
              <a:gd name="connsiteY0" fmla="*/ 3554884 h 3555241"/>
              <a:gd name="connsiteX1" fmla="*/ 38 w 7551249"/>
              <a:gd name="connsiteY1" fmla="*/ 352885 h 3555241"/>
              <a:gd name="connsiteX2" fmla="*/ 276172 w 7551249"/>
              <a:gd name="connsiteY2" fmla="*/ 0 h 3555241"/>
              <a:gd name="connsiteX3" fmla="*/ 7551249 w 7551249"/>
              <a:gd name="connsiteY3" fmla="*/ 0 h 3555241"/>
              <a:gd name="connsiteX4" fmla="*/ 3976357 w 7551249"/>
              <a:gd name="connsiteY4" fmla="*/ 3555241 h 3555241"/>
              <a:gd name="connsiteX5" fmla="*/ 0 w 7551249"/>
              <a:gd name="connsiteY5" fmla="*/ 3554884 h 3555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51249" h="3555241">
                <a:moveTo>
                  <a:pt x="0" y="3554884"/>
                </a:moveTo>
                <a:cubicBezTo>
                  <a:pt x="13" y="2455706"/>
                  <a:pt x="25" y="1452063"/>
                  <a:pt x="38" y="352885"/>
                </a:cubicBezTo>
                <a:lnTo>
                  <a:pt x="276172" y="0"/>
                </a:lnTo>
                <a:lnTo>
                  <a:pt x="7551249" y="0"/>
                </a:lnTo>
                <a:lnTo>
                  <a:pt x="3976357" y="3555241"/>
                </a:lnTo>
                <a:lnTo>
                  <a:pt x="0" y="355488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5463" y="341313"/>
            <a:ext cx="2270125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0"/>
            <a:ext cx="11252200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Triangle 6"/>
          <p:cNvSpPr/>
          <p:nvPr userDrawn="1"/>
        </p:nvSpPr>
        <p:spPr>
          <a:xfrm flipH="1">
            <a:off x="11488738" y="5392738"/>
            <a:ext cx="204787" cy="204787"/>
          </a:xfrm>
          <a:prstGeom prst="rtTriangl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Parallelogram 7"/>
          <p:cNvSpPr/>
          <p:nvPr userDrawn="1"/>
        </p:nvSpPr>
        <p:spPr>
          <a:xfrm flipH="1">
            <a:off x="1468438" y="1958975"/>
            <a:ext cx="2193925" cy="1096963"/>
          </a:xfrm>
          <a:prstGeom prst="parallelogram">
            <a:avLst>
              <a:gd name="adj" fmla="val 99186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Parallelogram 12"/>
          <p:cNvSpPr/>
          <p:nvPr userDrawn="1"/>
        </p:nvSpPr>
        <p:spPr>
          <a:xfrm>
            <a:off x="-15875" y="3327400"/>
            <a:ext cx="7550150" cy="3554413"/>
          </a:xfrm>
          <a:custGeom>
            <a:avLst/>
            <a:gdLst>
              <a:gd name="connsiteX0" fmla="*/ 0 w 11532358"/>
              <a:gd name="connsiteY0" fmla="*/ 4292220 h 4292220"/>
              <a:gd name="connsiteX1" fmla="*/ 4257281 w 11532358"/>
              <a:gd name="connsiteY1" fmla="*/ 0 h 4292220"/>
              <a:gd name="connsiteX2" fmla="*/ 11532358 w 11532358"/>
              <a:gd name="connsiteY2" fmla="*/ 0 h 4292220"/>
              <a:gd name="connsiteX3" fmla="*/ 7275077 w 11532358"/>
              <a:gd name="connsiteY3" fmla="*/ 4292220 h 4292220"/>
              <a:gd name="connsiteX4" fmla="*/ 0 w 11532358"/>
              <a:gd name="connsiteY4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0 w 11532358"/>
              <a:gd name="connsiteY5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3271426 w 11532358"/>
              <a:gd name="connsiteY5" fmla="*/ 4291864 h 4292220"/>
              <a:gd name="connsiteX6" fmla="*/ 0 w 11532358"/>
              <a:gd name="connsiteY6" fmla="*/ 4292220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0 w 8260932"/>
              <a:gd name="connsiteY5" fmla="*/ 4291864 h 4292220"/>
              <a:gd name="connsiteX0" fmla="*/ 0 w 8260932"/>
              <a:gd name="connsiteY0" fmla="*/ 4291864 h 4292220"/>
              <a:gd name="connsiteX1" fmla="*/ 682426 w 8260932"/>
              <a:gd name="connsiteY1" fmla="*/ 325590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0 w 8260932"/>
              <a:gd name="connsiteY5" fmla="*/ 4291864 h 4292220"/>
              <a:gd name="connsiteX0" fmla="*/ 40907 w 7578507"/>
              <a:gd name="connsiteY0" fmla="*/ 3486646 h 4292220"/>
              <a:gd name="connsiteX1" fmla="*/ 1 w 7578507"/>
              <a:gd name="connsiteY1" fmla="*/ 325590 h 4292220"/>
              <a:gd name="connsiteX2" fmla="*/ 303430 w 7578507"/>
              <a:gd name="connsiteY2" fmla="*/ 0 h 4292220"/>
              <a:gd name="connsiteX3" fmla="*/ 7578507 w 7578507"/>
              <a:gd name="connsiteY3" fmla="*/ 0 h 4292220"/>
              <a:gd name="connsiteX4" fmla="*/ 3321226 w 7578507"/>
              <a:gd name="connsiteY4" fmla="*/ 4292220 h 4292220"/>
              <a:gd name="connsiteX5" fmla="*/ 40907 w 7578507"/>
              <a:gd name="connsiteY5" fmla="*/ 3486646 h 4292220"/>
              <a:gd name="connsiteX0" fmla="*/ 13612 w 7551212"/>
              <a:gd name="connsiteY0" fmla="*/ 3486646 h 4292220"/>
              <a:gd name="connsiteX1" fmla="*/ 1 w 7551212"/>
              <a:gd name="connsiteY1" fmla="*/ 352885 h 4292220"/>
              <a:gd name="connsiteX2" fmla="*/ 276135 w 7551212"/>
              <a:gd name="connsiteY2" fmla="*/ 0 h 4292220"/>
              <a:gd name="connsiteX3" fmla="*/ 7551212 w 7551212"/>
              <a:gd name="connsiteY3" fmla="*/ 0 h 4292220"/>
              <a:gd name="connsiteX4" fmla="*/ 3293931 w 7551212"/>
              <a:gd name="connsiteY4" fmla="*/ 4292220 h 4292220"/>
              <a:gd name="connsiteX5" fmla="*/ 13612 w 7551212"/>
              <a:gd name="connsiteY5" fmla="*/ 3486646 h 4292220"/>
              <a:gd name="connsiteX0" fmla="*/ 13612 w 7551212"/>
              <a:gd name="connsiteY0" fmla="*/ 3486646 h 3555241"/>
              <a:gd name="connsiteX1" fmla="*/ 1 w 7551212"/>
              <a:gd name="connsiteY1" fmla="*/ 352885 h 3555241"/>
              <a:gd name="connsiteX2" fmla="*/ 276135 w 7551212"/>
              <a:gd name="connsiteY2" fmla="*/ 0 h 3555241"/>
              <a:gd name="connsiteX3" fmla="*/ 7551212 w 7551212"/>
              <a:gd name="connsiteY3" fmla="*/ 0 h 3555241"/>
              <a:gd name="connsiteX4" fmla="*/ 3976320 w 7551212"/>
              <a:gd name="connsiteY4" fmla="*/ 3555241 h 3555241"/>
              <a:gd name="connsiteX5" fmla="*/ 13612 w 7551212"/>
              <a:gd name="connsiteY5" fmla="*/ 3486646 h 3555241"/>
              <a:gd name="connsiteX0" fmla="*/ 13612 w 7551212"/>
              <a:gd name="connsiteY0" fmla="*/ 3568532 h 3568532"/>
              <a:gd name="connsiteX1" fmla="*/ 1 w 7551212"/>
              <a:gd name="connsiteY1" fmla="*/ 352885 h 3568532"/>
              <a:gd name="connsiteX2" fmla="*/ 276135 w 7551212"/>
              <a:gd name="connsiteY2" fmla="*/ 0 h 3568532"/>
              <a:gd name="connsiteX3" fmla="*/ 7551212 w 7551212"/>
              <a:gd name="connsiteY3" fmla="*/ 0 h 3568532"/>
              <a:gd name="connsiteX4" fmla="*/ 3976320 w 7551212"/>
              <a:gd name="connsiteY4" fmla="*/ 3555241 h 3568532"/>
              <a:gd name="connsiteX5" fmla="*/ 13612 w 7551212"/>
              <a:gd name="connsiteY5" fmla="*/ 3568532 h 3568532"/>
              <a:gd name="connsiteX0" fmla="*/ 0 w 7619487"/>
              <a:gd name="connsiteY0" fmla="*/ 3759601 h 3759601"/>
              <a:gd name="connsiteX1" fmla="*/ 68276 w 7619487"/>
              <a:gd name="connsiteY1" fmla="*/ 352885 h 3759601"/>
              <a:gd name="connsiteX2" fmla="*/ 344410 w 7619487"/>
              <a:gd name="connsiteY2" fmla="*/ 0 h 3759601"/>
              <a:gd name="connsiteX3" fmla="*/ 7619487 w 7619487"/>
              <a:gd name="connsiteY3" fmla="*/ 0 h 3759601"/>
              <a:gd name="connsiteX4" fmla="*/ 4044595 w 7619487"/>
              <a:gd name="connsiteY4" fmla="*/ 3555241 h 3759601"/>
              <a:gd name="connsiteX5" fmla="*/ 0 w 7619487"/>
              <a:gd name="connsiteY5" fmla="*/ 3759601 h 3759601"/>
              <a:gd name="connsiteX0" fmla="*/ 0 w 7947034"/>
              <a:gd name="connsiteY0" fmla="*/ 3991612 h 3991612"/>
              <a:gd name="connsiteX1" fmla="*/ 395823 w 7947034"/>
              <a:gd name="connsiteY1" fmla="*/ 352885 h 3991612"/>
              <a:gd name="connsiteX2" fmla="*/ 671957 w 7947034"/>
              <a:gd name="connsiteY2" fmla="*/ 0 h 3991612"/>
              <a:gd name="connsiteX3" fmla="*/ 7947034 w 7947034"/>
              <a:gd name="connsiteY3" fmla="*/ 0 h 3991612"/>
              <a:gd name="connsiteX4" fmla="*/ 4372142 w 7947034"/>
              <a:gd name="connsiteY4" fmla="*/ 3555241 h 3991612"/>
              <a:gd name="connsiteX5" fmla="*/ 0 w 7947034"/>
              <a:gd name="connsiteY5" fmla="*/ 3991612 h 3991612"/>
              <a:gd name="connsiteX0" fmla="*/ 0 w 7551249"/>
              <a:gd name="connsiteY0" fmla="*/ 3554884 h 3555241"/>
              <a:gd name="connsiteX1" fmla="*/ 38 w 7551249"/>
              <a:gd name="connsiteY1" fmla="*/ 352885 h 3555241"/>
              <a:gd name="connsiteX2" fmla="*/ 276172 w 7551249"/>
              <a:gd name="connsiteY2" fmla="*/ 0 h 3555241"/>
              <a:gd name="connsiteX3" fmla="*/ 7551249 w 7551249"/>
              <a:gd name="connsiteY3" fmla="*/ 0 h 3555241"/>
              <a:gd name="connsiteX4" fmla="*/ 3976357 w 7551249"/>
              <a:gd name="connsiteY4" fmla="*/ 3555241 h 3555241"/>
              <a:gd name="connsiteX5" fmla="*/ 0 w 7551249"/>
              <a:gd name="connsiteY5" fmla="*/ 3554884 h 3555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51249" h="3555241">
                <a:moveTo>
                  <a:pt x="0" y="3554884"/>
                </a:moveTo>
                <a:cubicBezTo>
                  <a:pt x="13" y="2455706"/>
                  <a:pt x="25" y="1452063"/>
                  <a:pt x="38" y="352885"/>
                </a:cubicBezTo>
                <a:lnTo>
                  <a:pt x="276172" y="0"/>
                </a:lnTo>
                <a:lnTo>
                  <a:pt x="7551249" y="0"/>
                </a:lnTo>
                <a:lnTo>
                  <a:pt x="3976357" y="3555241"/>
                </a:lnTo>
                <a:lnTo>
                  <a:pt x="0" y="3554884"/>
                </a:lnTo>
                <a:close/>
              </a:path>
            </a:pathLst>
          </a:custGeom>
          <a:solidFill>
            <a:schemeClr val="accent5">
              <a:alpha val="50196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53833" y="4870941"/>
            <a:ext cx="5486400" cy="822960"/>
          </a:xfrm>
        </p:spPr>
        <p:txBody>
          <a:bodyPr tIns="0"/>
          <a:lstStyle>
            <a:lvl1pPr algn="r">
              <a:defRPr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68233" y="5762394"/>
            <a:ext cx="4572000" cy="640080"/>
          </a:xfrm>
        </p:spPr>
        <p:txBody>
          <a:bodyPr tIns="0" bIns="0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5125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625" y="278130"/>
            <a:ext cx="10424160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45" y="1381124"/>
            <a:ext cx="11338560" cy="466344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245" y="752574"/>
            <a:ext cx="10424160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561434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625" y="278130"/>
            <a:ext cx="10424160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245" y="752574"/>
            <a:ext cx="10424160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217037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609" y="391310"/>
            <a:ext cx="5385514" cy="548640"/>
          </a:xfrm>
        </p:spPr>
        <p:txBody>
          <a:bodyPr anchor="b">
            <a:noAutofit/>
          </a:bodyPr>
          <a:lstStyle>
            <a:lvl1pPr marL="0" indent="0">
              <a:buNone/>
              <a:defRPr sz="19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609" y="1031074"/>
            <a:ext cx="5385514" cy="1839699"/>
          </a:xfrm>
        </p:spPr>
        <p:txBody>
          <a:bodyPr/>
          <a:lstStyle>
            <a:lvl1pPr>
              <a:defRPr sz="19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4589" y="391310"/>
            <a:ext cx="5387630" cy="548640"/>
          </a:xfrm>
        </p:spPr>
        <p:txBody>
          <a:bodyPr anchor="b">
            <a:noAutofit/>
          </a:bodyPr>
          <a:lstStyle>
            <a:lvl1pPr marL="0" indent="0">
              <a:buNone/>
              <a:defRPr sz="19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4589" y="1031072"/>
            <a:ext cx="5387630" cy="1850332"/>
          </a:xfrm>
        </p:spPr>
        <p:txBody>
          <a:bodyPr/>
          <a:lstStyle>
            <a:lvl1pPr>
              <a:defRPr sz="19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0"/>
          </p:nvPr>
        </p:nvSpPr>
        <p:spPr>
          <a:xfrm>
            <a:off x="445500" y="3223226"/>
            <a:ext cx="5385514" cy="548640"/>
          </a:xfrm>
        </p:spPr>
        <p:txBody>
          <a:bodyPr anchor="b">
            <a:noAutofit/>
          </a:bodyPr>
          <a:lstStyle>
            <a:lvl1pPr marL="0" indent="0">
              <a:buNone/>
              <a:defRPr sz="19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1"/>
          </p:nvPr>
        </p:nvSpPr>
        <p:spPr>
          <a:xfrm>
            <a:off x="445500" y="3862995"/>
            <a:ext cx="5385514" cy="1839699"/>
          </a:xfrm>
        </p:spPr>
        <p:txBody>
          <a:bodyPr/>
          <a:lstStyle>
            <a:lvl1pPr>
              <a:defRPr sz="19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393480" y="3223226"/>
            <a:ext cx="5387630" cy="548640"/>
          </a:xfrm>
        </p:spPr>
        <p:txBody>
          <a:bodyPr anchor="b">
            <a:noAutofit/>
          </a:bodyPr>
          <a:lstStyle>
            <a:lvl1pPr marL="0" indent="0">
              <a:buNone/>
              <a:defRPr sz="19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3"/>
          </p:nvPr>
        </p:nvSpPr>
        <p:spPr>
          <a:xfrm>
            <a:off x="6393480" y="3862988"/>
            <a:ext cx="5387630" cy="1850332"/>
          </a:xfrm>
        </p:spPr>
        <p:txBody>
          <a:bodyPr/>
          <a:lstStyle>
            <a:lvl1pPr>
              <a:defRPr sz="19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854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0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12"/>
          <p:cNvSpPr/>
          <p:nvPr userDrawn="1"/>
        </p:nvSpPr>
        <p:spPr>
          <a:xfrm>
            <a:off x="-3175" y="3328988"/>
            <a:ext cx="8453438" cy="3529012"/>
          </a:xfrm>
          <a:custGeom>
            <a:avLst/>
            <a:gdLst>
              <a:gd name="connsiteX0" fmla="*/ 0 w 11532358"/>
              <a:gd name="connsiteY0" fmla="*/ 4292220 h 4292220"/>
              <a:gd name="connsiteX1" fmla="*/ 4257281 w 11532358"/>
              <a:gd name="connsiteY1" fmla="*/ 0 h 4292220"/>
              <a:gd name="connsiteX2" fmla="*/ 11532358 w 11532358"/>
              <a:gd name="connsiteY2" fmla="*/ 0 h 4292220"/>
              <a:gd name="connsiteX3" fmla="*/ 7275077 w 11532358"/>
              <a:gd name="connsiteY3" fmla="*/ 4292220 h 4292220"/>
              <a:gd name="connsiteX4" fmla="*/ 0 w 11532358"/>
              <a:gd name="connsiteY4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0 w 11532358"/>
              <a:gd name="connsiteY5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3271426 w 11532358"/>
              <a:gd name="connsiteY5" fmla="*/ 4291864 h 4292220"/>
              <a:gd name="connsiteX6" fmla="*/ 0 w 11532358"/>
              <a:gd name="connsiteY6" fmla="*/ 4292220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0 w 8260932"/>
              <a:gd name="connsiteY5" fmla="*/ 4291864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548849 w 8260932"/>
              <a:gd name="connsiteY5" fmla="*/ 4289231 h 4292220"/>
              <a:gd name="connsiteX6" fmla="*/ 0 w 8260932"/>
              <a:gd name="connsiteY6" fmla="*/ 4291864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548849 w 8260932"/>
              <a:gd name="connsiteY2" fmla="*/ 438981 h 4292220"/>
              <a:gd name="connsiteX3" fmla="*/ 985855 w 8260932"/>
              <a:gd name="connsiteY3" fmla="*/ 0 h 4292220"/>
              <a:gd name="connsiteX4" fmla="*/ 8260932 w 8260932"/>
              <a:gd name="connsiteY4" fmla="*/ 0 h 4292220"/>
              <a:gd name="connsiteX5" fmla="*/ 4003651 w 8260932"/>
              <a:gd name="connsiteY5" fmla="*/ 4292220 h 4292220"/>
              <a:gd name="connsiteX6" fmla="*/ 548849 w 8260932"/>
              <a:gd name="connsiteY6" fmla="*/ 4289231 h 4292220"/>
              <a:gd name="connsiteX7" fmla="*/ 0 w 8260932"/>
              <a:gd name="connsiteY7" fmla="*/ 4291864 h 4292220"/>
              <a:gd name="connsiteX0" fmla="*/ 0 w 8260932"/>
              <a:gd name="connsiteY0" fmla="*/ 4291864 h 4292220"/>
              <a:gd name="connsiteX1" fmla="*/ 548849 w 8260932"/>
              <a:gd name="connsiteY1" fmla="*/ 43898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548849 w 8260932"/>
              <a:gd name="connsiteY5" fmla="*/ 4289231 h 4292220"/>
              <a:gd name="connsiteX6" fmla="*/ 0 w 8260932"/>
              <a:gd name="connsiteY6" fmla="*/ 4291864 h 4292220"/>
              <a:gd name="connsiteX0" fmla="*/ 0 w 7712083"/>
              <a:gd name="connsiteY0" fmla="*/ 4289231 h 4292220"/>
              <a:gd name="connsiteX1" fmla="*/ 0 w 7712083"/>
              <a:gd name="connsiteY1" fmla="*/ 438981 h 4292220"/>
              <a:gd name="connsiteX2" fmla="*/ 437006 w 7712083"/>
              <a:gd name="connsiteY2" fmla="*/ 0 h 4292220"/>
              <a:gd name="connsiteX3" fmla="*/ 7712083 w 7712083"/>
              <a:gd name="connsiteY3" fmla="*/ 0 h 4292220"/>
              <a:gd name="connsiteX4" fmla="*/ 3454802 w 7712083"/>
              <a:gd name="connsiteY4" fmla="*/ 4292220 h 4292220"/>
              <a:gd name="connsiteX5" fmla="*/ 0 w 7712083"/>
              <a:gd name="connsiteY5" fmla="*/ 4289231 h 4292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12083" h="4292220">
                <a:moveTo>
                  <a:pt x="0" y="4289231"/>
                </a:moveTo>
                <a:lnTo>
                  <a:pt x="0" y="438981"/>
                </a:lnTo>
                <a:lnTo>
                  <a:pt x="437006" y="0"/>
                </a:lnTo>
                <a:lnTo>
                  <a:pt x="7712083" y="0"/>
                </a:lnTo>
                <a:lnTo>
                  <a:pt x="3454802" y="4292220"/>
                </a:lnTo>
                <a:lnTo>
                  <a:pt x="0" y="4289231"/>
                </a:lnTo>
                <a:close/>
              </a:path>
            </a:pathLst>
          </a:custGeom>
          <a:solidFill>
            <a:srgbClr val="00AAB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Parallelogram 4"/>
          <p:cNvSpPr/>
          <p:nvPr userDrawn="1"/>
        </p:nvSpPr>
        <p:spPr>
          <a:xfrm flipH="1">
            <a:off x="1404938" y="2190750"/>
            <a:ext cx="2406650" cy="901700"/>
          </a:xfrm>
          <a:prstGeom prst="parallelogram">
            <a:avLst>
              <a:gd name="adj" fmla="val 99186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>
              <a:solidFill>
                <a:prstClr val="white"/>
              </a:solidFill>
            </a:endParaRPr>
          </a:p>
        </p:txBody>
      </p:sp>
      <p:pic>
        <p:nvPicPr>
          <p:cNvPr id="6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0"/>
            <a:ext cx="11915775" cy="358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arallelogram 12"/>
          <p:cNvSpPr/>
          <p:nvPr userDrawn="1"/>
        </p:nvSpPr>
        <p:spPr>
          <a:xfrm>
            <a:off x="-3175" y="3328988"/>
            <a:ext cx="8453438" cy="3529012"/>
          </a:xfrm>
          <a:custGeom>
            <a:avLst/>
            <a:gdLst>
              <a:gd name="connsiteX0" fmla="*/ 0 w 11532358"/>
              <a:gd name="connsiteY0" fmla="*/ 4292220 h 4292220"/>
              <a:gd name="connsiteX1" fmla="*/ 4257281 w 11532358"/>
              <a:gd name="connsiteY1" fmla="*/ 0 h 4292220"/>
              <a:gd name="connsiteX2" fmla="*/ 11532358 w 11532358"/>
              <a:gd name="connsiteY2" fmla="*/ 0 h 4292220"/>
              <a:gd name="connsiteX3" fmla="*/ 7275077 w 11532358"/>
              <a:gd name="connsiteY3" fmla="*/ 4292220 h 4292220"/>
              <a:gd name="connsiteX4" fmla="*/ 0 w 11532358"/>
              <a:gd name="connsiteY4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0 w 11532358"/>
              <a:gd name="connsiteY5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3271426 w 11532358"/>
              <a:gd name="connsiteY5" fmla="*/ 4291864 h 4292220"/>
              <a:gd name="connsiteX6" fmla="*/ 0 w 11532358"/>
              <a:gd name="connsiteY6" fmla="*/ 4292220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0 w 8260932"/>
              <a:gd name="connsiteY5" fmla="*/ 4291864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548849 w 8260932"/>
              <a:gd name="connsiteY5" fmla="*/ 4289231 h 4292220"/>
              <a:gd name="connsiteX6" fmla="*/ 0 w 8260932"/>
              <a:gd name="connsiteY6" fmla="*/ 4291864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548849 w 8260932"/>
              <a:gd name="connsiteY2" fmla="*/ 438981 h 4292220"/>
              <a:gd name="connsiteX3" fmla="*/ 985855 w 8260932"/>
              <a:gd name="connsiteY3" fmla="*/ 0 h 4292220"/>
              <a:gd name="connsiteX4" fmla="*/ 8260932 w 8260932"/>
              <a:gd name="connsiteY4" fmla="*/ 0 h 4292220"/>
              <a:gd name="connsiteX5" fmla="*/ 4003651 w 8260932"/>
              <a:gd name="connsiteY5" fmla="*/ 4292220 h 4292220"/>
              <a:gd name="connsiteX6" fmla="*/ 548849 w 8260932"/>
              <a:gd name="connsiteY6" fmla="*/ 4289231 h 4292220"/>
              <a:gd name="connsiteX7" fmla="*/ 0 w 8260932"/>
              <a:gd name="connsiteY7" fmla="*/ 4291864 h 4292220"/>
              <a:gd name="connsiteX0" fmla="*/ 0 w 8260932"/>
              <a:gd name="connsiteY0" fmla="*/ 4291864 h 4292220"/>
              <a:gd name="connsiteX1" fmla="*/ 548849 w 8260932"/>
              <a:gd name="connsiteY1" fmla="*/ 43898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548849 w 8260932"/>
              <a:gd name="connsiteY5" fmla="*/ 4289231 h 4292220"/>
              <a:gd name="connsiteX6" fmla="*/ 0 w 8260932"/>
              <a:gd name="connsiteY6" fmla="*/ 4291864 h 4292220"/>
              <a:gd name="connsiteX0" fmla="*/ 0 w 7712083"/>
              <a:gd name="connsiteY0" fmla="*/ 4289231 h 4292220"/>
              <a:gd name="connsiteX1" fmla="*/ 0 w 7712083"/>
              <a:gd name="connsiteY1" fmla="*/ 438981 h 4292220"/>
              <a:gd name="connsiteX2" fmla="*/ 437006 w 7712083"/>
              <a:gd name="connsiteY2" fmla="*/ 0 h 4292220"/>
              <a:gd name="connsiteX3" fmla="*/ 7712083 w 7712083"/>
              <a:gd name="connsiteY3" fmla="*/ 0 h 4292220"/>
              <a:gd name="connsiteX4" fmla="*/ 3454802 w 7712083"/>
              <a:gd name="connsiteY4" fmla="*/ 4292220 h 4292220"/>
              <a:gd name="connsiteX5" fmla="*/ 0 w 7712083"/>
              <a:gd name="connsiteY5" fmla="*/ 4289231 h 4292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12083" h="4292220">
                <a:moveTo>
                  <a:pt x="0" y="4289231"/>
                </a:moveTo>
                <a:lnTo>
                  <a:pt x="0" y="438981"/>
                </a:lnTo>
                <a:lnTo>
                  <a:pt x="437006" y="0"/>
                </a:lnTo>
                <a:lnTo>
                  <a:pt x="7712083" y="0"/>
                </a:lnTo>
                <a:lnTo>
                  <a:pt x="3454802" y="4292220"/>
                </a:lnTo>
                <a:lnTo>
                  <a:pt x="0" y="4289231"/>
                </a:lnTo>
                <a:close/>
              </a:path>
            </a:pathLst>
          </a:custGeom>
          <a:solidFill>
            <a:srgbClr val="00AAB5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ight Triangle 7"/>
          <p:cNvSpPr/>
          <p:nvPr userDrawn="1"/>
        </p:nvSpPr>
        <p:spPr>
          <a:xfrm flipH="1">
            <a:off x="11488738" y="5392738"/>
            <a:ext cx="273050" cy="204787"/>
          </a:xfrm>
          <a:prstGeom prst="rtTriangl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700" y="341313"/>
            <a:ext cx="3027363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53833" y="4870941"/>
            <a:ext cx="5486400" cy="822960"/>
          </a:xfrm>
        </p:spPr>
        <p:txBody>
          <a:bodyPr tIns="0"/>
          <a:lstStyle>
            <a:lvl1pPr algn="r">
              <a:defRPr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68234" y="5762394"/>
            <a:ext cx="4572000" cy="640080"/>
          </a:xfrm>
        </p:spPr>
        <p:txBody>
          <a:bodyPr tIns="0" bIns="0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88855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98" y="306707"/>
            <a:ext cx="10238613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5" y="1381123"/>
            <a:ext cx="11457496" cy="493776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755" y="752474"/>
            <a:ext cx="10238613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553608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98" y="306707"/>
            <a:ext cx="10238613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755" y="752474"/>
            <a:ext cx="10238613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932270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36026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98" y="306388"/>
            <a:ext cx="10238613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6" y="1381123"/>
            <a:ext cx="5484971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755" y="752474"/>
            <a:ext cx="10238613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7137" y="1381123"/>
            <a:ext cx="548497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2580946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98" y="306388"/>
            <a:ext cx="10238613" cy="4746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6" y="1777919"/>
            <a:ext cx="5484971" cy="45720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755" y="752474"/>
            <a:ext cx="10238613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7137" y="1777919"/>
            <a:ext cx="5484971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2"/>
          </p:nvPr>
        </p:nvSpPr>
        <p:spPr>
          <a:xfrm>
            <a:off x="365756" y="1287463"/>
            <a:ext cx="5484971" cy="4790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7137" y="1287463"/>
            <a:ext cx="5484971" cy="4790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781787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98" y="306388"/>
            <a:ext cx="10238613" cy="4746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3172" y="1381123"/>
            <a:ext cx="7313295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755" y="752474"/>
            <a:ext cx="10238613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56" y="1381123"/>
            <a:ext cx="4010039" cy="50292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360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111" y="182880"/>
            <a:ext cx="9994837" cy="6400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9111" y="1096859"/>
            <a:ext cx="5383398" cy="521208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61155" y="1096859"/>
            <a:ext cx="5383398" cy="521208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88282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57770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 userDrawn="1"/>
        </p:nvSpPr>
        <p:spPr bwMode="auto">
          <a:xfrm>
            <a:off x="0" y="1600200"/>
            <a:ext cx="12188825" cy="36576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228600" tIns="45714" rIns="228600" bIns="45714" anchor="ctr"/>
          <a:lstStyle>
            <a:lvl1pPr marL="1588" indent="-1588" defTabSz="91281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812588" y="1600198"/>
            <a:ext cx="4875530" cy="3657602"/>
            <a:chOff x="4328513" y="1905000"/>
            <a:chExt cx="3106797" cy="3106799"/>
          </a:xfrm>
          <a:solidFill>
            <a:srgbClr val="000000">
              <a:alpha val="10196"/>
            </a:srgbClr>
          </a:solidFill>
        </p:grpSpPr>
        <p:sp>
          <p:nvSpPr>
            <p:cNvPr id="5" name="Rectangle 8"/>
            <p:cNvSpPr>
              <a:spLocks noChangeArrowheads="1"/>
            </p:cNvSpPr>
            <p:nvPr/>
          </p:nvSpPr>
          <p:spPr bwMode="auto">
            <a:xfrm>
              <a:off x="5262777" y="2839263"/>
              <a:ext cx="1271637" cy="1271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262626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6" name="Freeform 9"/>
            <p:cNvSpPr>
              <a:spLocks/>
            </p:cNvSpPr>
            <p:nvPr/>
          </p:nvSpPr>
          <p:spPr bwMode="auto">
            <a:xfrm>
              <a:off x="5633516" y="4110901"/>
              <a:ext cx="1801794" cy="900898"/>
            </a:xfrm>
            <a:custGeom>
              <a:avLst/>
              <a:gdLst>
                <a:gd name="T0" fmla="*/ 0 w 486"/>
                <a:gd name="T1" fmla="*/ 243 h 243"/>
                <a:gd name="T2" fmla="*/ 486 w 486"/>
                <a:gd name="T3" fmla="*/ 243 h 243"/>
                <a:gd name="T4" fmla="*/ 243 w 486"/>
                <a:gd name="T5" fmla="*/ 0 h 243"/>
                <a:gd name="T6" fmla="*/ 0 w 486"/>
                <a:gd name="T7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6" h="243">
                  <a:moveTo>
                    <a:pt x="0" y="243"/>
                  </a:moveTo>
                  <a:lnTo>
                    <a:pt x="486" y="243"/>
                  </a:lnTo>
                  <a:lnTo>
                    <a:pt x="243" y="0"/>
                  </a:lnTo>
                  <a:lnTo>
                    <a:pt x="0" y="2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262626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7" name="Freeform 10"/>
            <p:cNvSpPr>
              <a:spLocks/>
            </p:cNvSpPr>
            <p:nvPr/>
          </p:nvSpPr>
          <p:spPr bwMode="auto">
            <a:xfrm>
              <a:off x="4328513" y="1905000"/>
              <a:ext cx="934263" cy="1864821"/>
            </a:xfrm>
            <a:custGeom>
              <a:avLst/>
              <a:gdLst>
                <a:gd name="T0" fmla="*/ 0 w 252"/>
                <a:gd name="T1" fmla="*/ 0 h 503"/>
                <a:gd name="T2" fmla="*/ 0 w 252"/>
                <a:gd name="T3" fmla="*/ 503 h 503"/>
                <a:gd name="T4" fmla="*/ 252 w 252"/>
                <a:gd name="T5" fmla="*/ 252 h 503"/>
                <a:gd name="T6" fmla="*/ 0 w 252"/>
                <a:gd name="T7" fmla="*/ 0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2" h="503">
                  <a:moveTo>
                    <a:pt x="0" y="0"/>
                  </a:moveTo>
                  <a:lnTo>
                    <a:pt x="0" y="503"/>
                  </a:lnTo>
                  <a:lnTo>
                    <a:pt x="252" y="25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262626"/>
                </a:solidFill>
                <a:latin typeface="Arial"/>
                <a:cs typeface="Arial" charset="0"/>
              </a:endParaRPr>
            </a:p>
          </p:txBody>
        </p:sp>
      </p:grpSp>
      <p:sp>
        <p:nvSpPr>
          <p:cNvPr id="8" name="Chevron 7"/>
          <p:cNvSpPr>
            <a:spLocks noChangeArrowheads="1"/>
          </p:cNvSpPr>
          <p:nvPr userDrawn="1"/>
        </p:nvSpPr>
        <p:spPr bwMode="auto">
          <a:xfrm>
            <a:off x="10580688" y="2690813"/>
            <a:ext cx="877887" cy="1476375"/>
          </a:xfrm>
          <a:prstGeom prst="chevron">
            <a:avLst>
              <a:gd name="adj" fmla="val 74139"/>
            </a:avLst>
          </a:prstGeom>
          <a:solidFill>
            <a:schemeClr val="accent5"/>
          </a:solidFill>
          <a:ln>
            <a:noFill/>
          </a:ln>
          <a:extLst/>
        </p:spPr>
        <p:txBody>
          <a:bodyPr lIns="228600" tIns="45714" rIns="228600" bIns="45714" anchor="ctr"/>
          <a:lstStyle/>
          <a:p>
            <a:pPr marL="1588" indent="-1588" algn="ctr" defTabSz="912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solidFill>
                <a:srgbClr val="FFFFFF"/>
              </a:solidFill>
              <a:latin typeface="Arial"/>
              <a:cs typeface="Arial" charset="0"/>
            </a:endParaRPr>
          </a:p>
        </p:txBody>
      </p:sp>
      <p:pic>
        <p:nvPicPr>
          <p:cNvPr id="9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7013" y="271463"/>
            <a:ext cx="160178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7654" y="2751138"/>
            <a:ext cx="5241195" cy="1362075"/>
          </a:xfrm>
        </p:spPr>
        <p:txBody>
          <a:bodyPr anchor="ctr">
            <a:normAutofit/>
          </a:bodyPr>
          <a:lstStyle>
            <a:lvl1pPr algn="r">
              <a:defRPr sz="2400" b="0" cap="all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517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463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/>
          <p:cNvSpPr/>
          <p:nvPr userDrawn="1"/>
        </p:nvSpPr>
        <p:spPr>
          <a:xfrm flipH="1">
            <a:off x="9693275" y="3965575"/>
            <a:ext cx="206375" cy="204788"/>
          </a:xfrm>
          <a:prstGeom prst="rt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Parallelogram 3"/>
          <p:cNvSpPr/>
          <p:nvPr userDrawn="1"/>
        </p:nvSpPr>
        <p:spPr>
          <a:xfrm>
            <a:off x="5849938" y="4452938"/>
            <a:ext cx="5370512" cy="966787"/>
          </a:xfrm>
          <a:prstGeom prst="parallelogram">
            <a:avLst>
              <a:gd name="adj" fmla="val 99186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>
              <a:solidFill>
                <a:prstClr val="white"/>
              </a:solidFill>
            </a:endParaRPr>
          </a:p>
        </p:txBody>
      </p:sp>
      <p:sp>
        <p:nvSpPr>
          <p:cNvPr id="5" name="Parallelogram 4"/>
          <p:cNvSpPr/>
          <p:nvPr userDrawn="1"/>
        </p:nvSpPr>
        <p:spPr>
          <a:xfrm>
            <a:off x="10180638" y="5038725"/>
            <a:ext cx="1320800" cy="381000"/>
          </a:xfrm>
          <a:prstGeom prst="parallelogram">
            <a:avLst>
              <a:gd name="adj" fmla="val 99186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6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1775" y="350838"/>
            <a:ext cx="160178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457765" y="2541290"/>
            <a:ext cx="5134475" cy="1841409"/>
          </a:xfrm>
        </p:spPr>
        <p:txBody>
          <a:bodyPr tIns="0"/>
          <a:lstStyle>
            <a:lvl1pPr algn="r">
              <a:defRPr sz="66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2625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6388" y="277813"/>
            <a:ext cx="10423525" cy="474662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12738" y="1381125"/>
            <a:ext cx="11339512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13" y="6561033"/>
            <a:ext cx="2212144" cy="236748"/>
          </a:xfrm>
          <a:prstGeom prst="rect">
            <a:avLst/>
          </a:prstGeom>
          <a:noFill/>
        </p:spPr>
        <p:txBody>
          <a:bodyPr wrap="none" lIns="0" tIns="41029" rIns="0" bIns="41029" anchor="ctr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cap="all" dirty="0"/>
              <a:t>|   </a:t>
            </a:r>
            <a:r>
              <a:rPr lang="en-US" altLang="zh-CN" sz="1000" cap="all" dirty="0"/>
              <a:t>tensile Conv </a:t>
            </a:r>
            <a:r>
              <a:rPr lang="en-US" sz="1000" cap="all" dirty="0"/>
              <a:t>|   </a:t>
            </a:r>
            <a:fld id="{F9649FD6-C0F2-4A33-9D42-84E368792D73}" type="datetime4">
              <a:rPr lang="en-US" sz="1000" cap="all"/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September 21, 2018</a:t>
            </a:fld>
            <a:r>
              <a:rPr lang="en-US" sz="1000" cap="all" dirty="0"/>
              <a:t> </a:t>
            </a:r>
          </a:p>
        </p:txBody>
      </p:sp>
      <p:pic>
        <p:nvPicPr>
          <p:cNvPr id="1029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913" y="267230"/>
            <a:ext cx="120173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04788" y="6561138"/>
            <a:ext cx="150812" cy="236537"/>
          </a:xfrm>
          <a:prstGeom prst="rect">
            <a:avLst/>
          </a:prstGeom>
          <a:noFill/>
        </p:spPr>
        <p:txBody>
          <a:bodyPr wrap="none" lIns="0" tIns="41029" rIns="0" bIns="41029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1152F864-876E-44A1-BF21-52FA88B4FBC7}" type="slidenum">
              <a:rPr lang="en-US" altLang="en-US" sz="1000" smtClean="0"/>
              <a:pPr algn="r" eaLnBrk="1" hangingPunct="1">
                <a:defRPr/>
              </a:pPr>
              <a:t>‹#›</a:t>
            </a:fld>
            <a:endParaRPr lang="en-US" alt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45" r:id="rId2"/>
    <p:sldLayoutId id="2147484046" r:id="rId3"/>
    <p:sldLayoutId id="2147484061" r:id="rId4"/>
  </p:sldLayoutIdLst>
  <p:transition/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600" kern="1200" cap="all" dirty="0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ts val="800"/>
        </a:spcBef>
        <a:spcAft>
          <a:spcPct val="0"/>
        </a:spcAft>
        <a:buClr>
          <a:schemeClr val="tx1"/>
        </a:buClr>
        <a:buFont typeface="Wingdings 3" panose="05040102010807070707" pitchFamily="18" charset="2"/>
        <a:buChar char="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47688" indent="-180975" algn="l" rtl="0" eaLnBrk="0" fontAlgn="base" hangingPunct="0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914400" indent="-168275" algn="l" rtl="0" eaLnBrk="0" fontAlgn="base" hangingPunct="0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sz="16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371600" indent="-182563" algn="l" rtl="0" eaLnBrk="0" fontAlgn="base" hangingPunct="0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644650" indent="-163513" algn="l" rtl="0" eaLnBrk="0" fontAlgn="base" hangingPunct="0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600" y="306388"/>
            <a:ext cx="10239375" cy="474662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65125" y="1381125"/>
            <a:ext cx="11458575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13" y="6561138"/>
            <a:ext cx="3741737" cy="236537"/>
          </a:xfrm>
          <a:prstGeom prst="rect">
            <a:avLst/>
          </a:prstGeom>
          <a:noFill/>
        </p:spPr>
        <p:txBody>
          <a:bodyPr wrap="none" lIns="0" tIns="41029" rIns="0" bIns="41029" anchor="ctr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cap="all" dirty="0">
                <a:solidFill>
                  <a:prstClr val="black"/>
                </a:solidFill>
                <a:latin typeface="Calibri"/>
              </a:rPr>
              <a:t>|  IP PLAN template   |   </a:t>
            </a:r>
            <a:fld id="{F9649FD6-C0F2-4A33-9D42-84E368792D73}" type="datetime4">
              <a:rPr lang="en-US" sz="1000" cap="all">
                <a:solidFill>
                  <a:prstClr val="black"/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September 21, 2018</a:t>
            </a:fld>
            <a:r>
              <a:rPr lang="en-US" sz="1000" cap="all" dirty="0">
                <a:solidFill>
                  <a:prstClr val="black"/>
                </a:solidFill>
                <a:latin typeface="Calibri"/>
              </a:rPr>
              <a:t>   |   AMD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788" y="6561138"/>
            <a:ext cx="150812" cy="236537"/>
          </a:xfrm>
          <a:prstGeom prst="rect">
            <a:avLst/>
          </a:prstGeom>
          <a:noFill/>
        </p:spPr>
        <p:txBody>
          <a:bodyPr wrap="none" lIns="0" tIns="41029" rIns="0" bIns="41029" anchor="ctr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86BF26A-6954-4225-AB06-0CF0A630366C}" type="slidenum">
              <a:rPr lang="en-US" sz="1000" cap="all">
                <a:solidFill>
                  <a:prstClr val="black"/>
                </a:solidFill>
                <a:latin typeface="Calibri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000" cap="all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054" name="Picture 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6538" y="344488"/>
            <a:ext cx="160178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9" r:id="rId10"/>
    <p:sldLayoutId id="2147484055" r:id="rId11"/>
    <p:sldLayoutId id="2147484060" r:id="rId12"/>
  </p:sldLayoutIdLst>
  <p:transition/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600" kern="1200" cap="all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ts val="800"/>
        </a:spcBef>
        <a:spcAft>
          <a:spcPct val="0"/>
        </a:spcAft>
        <a:buClr>
          <a:schemeClr val="tx1"/>
        </a:buClr>
        <a:buFont typeface="Wingdings 3" panose="05040102010807070707" pitchFamily="18" charset="2"/>
        <a:buChar char="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47688" indent="-180975" algn="l" rtl="0" fontAlgn="base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914400" indent="-168275" algn="l" rtl="0" fontAlgn="base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sz="16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371600" indent="-182563" algn="l" rtl="0" fontAlgn="base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644650" indent="-163513" algn="l" rtl="0" fontAlgn="base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tmp"/><Relationship Id="rId4" Type="http://schemas.openxmlformats.org/officeDocument/2006/relationships/image" Target="../media/image9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tmp"/><Relationship Id="rId5" Type="http://schemas.openxmlformats.org/officeDocument/2006/relationships/image" Target="../media/image13.tmp"/><Relationship Id="rId4" Type="http://schemas.openxmlformats.org/officeDocument/2006/relationships/image" Target="../media/image12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tmp"/><Relationship Id="rId5" Type="http://schemas.openxmlformats.org/officeDocument/2006/relationships/image" Target="../media/image19.tmp"/><Relationship Id="rId4" Type="http://schemas.openxmlformats.org/officeDocument/2006/relationships/image" Target="../media/image18.tm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953125" y="4870450"/>
            <a:ext cx="5486400" cy="8239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err="1"/>
              <a:t>TensileConv</a:t>
            </a:r>
            <a:endParaRPr dirty="0"/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6867525" y="5762625"/>
            <a:ext cx="4572000" cy="6397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err="1"/>
              <a:t>Wong,Fei</a:t>
            </a:r>
            <a:endParaRPr lang="en-US" altLang="zh-CN" dirty="0"/>
          </a:p>
          <a:p>
            <a:pPr eaLnBrk="1" hangingPunct="1">
              <a:defRPr/>
            </a:pPr>
            <a:r>
              <a:rPr lang="en-US" altLang="zh-CN" dirty="0"/>
              <a:t>AUG.2018</a:t>
            </a:r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12738" y="101259"/>
            <a:ext cx="10423525" cy="474662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/>
              <a:t> OUTLINE</a:t>
            </a:r>
            <a:endParaRPr b="1" dirty="0"/>
          </a:p>
        </p:txBody>
      </p:sp>
      <p:sp>
        <p:nvSpPr>
          <p:cNvPr id="12291" name="Content Placeholder 11"/>
          <p:cNvSpPr>
            <a:spLocks noGrp="1"/>
          </p:cNvSpPr>
          <p:nvPr>
            <p:ph idx="1"/>
          </p:nvPr>
        </p:nvSpPr>
        <p:spPr>
          <a:xfrm>
            <a:off x="312738" y="655638"/>
            <a:ext cx="5553075" cy="5947293"/>
          </a:xfrm>
        </p:spPr>
        <p:txBody>
          <a:bodyPr/>
          <a:lstStyle/>
          <a:p>
            <a:pPr eaLnBrk="1" hangingPunct="1"/>
            <a:r>
              <a:rPr lang="en-US" altLang="zh-CN" dirty="0"/>
              <a:t>Auto-tuning method </a:t>
            </a:r>
          </a:p>
          <a:p>
            <a:pPr lvl="1" eaLnBrk="1" hangingPunct="1"/>
            <a:r>
              <a:rPr lang="en-US" altLang="zh-CN" dirty="0"/>
              <a:t>Framework </a:t>
            </a:r>
          </a:p>
          <a:p>
            <a:pPr lvl="1" eaLnBrk="1" hangingPunct="1"/>
            <a:r>
              <a:rPr lang="en-US" altLang="zh-CN" dirty="0"/>
              <a:t>Workflow </a:t>
            </a:r>
          </a:p>
          <a:p>
            <a:pPr lvl="1" eaLnBrk="1" hangingPunct="1"/>
            <a:r>
              <a:rPr lang="en-US" altLang="zh-CN" dirty="0"/>
              <a:t>Parameter space </a:t>
            </a:r>
          </a:p>
          <a:p>
            <a:pPr eaLnBrk="1" hangingPunct="1"/>
            <a:r>
              <a:rPr lang="en-US" altLang="zh-CN" dirty="0"/>
              <a:t>Prefetch method </a:t>
            </a:r>
          </a:p>
          <a:p>
            <a:pPr lvl="1" eaLnBrk="1" hangingPunct="1"/>
            <a:r>
              <a:rPr lang="en-US" altLang="zh-CN" dirty="0"/>
              <a:t>Workload Design</a:t>
            </a:r>
          </a:p>
          <a:p>
            <a:pPr lvl="1" eaLnBrk="1" hangingPunct="1"/>
            <a:r>
              <a:rPr lang="en-US" altLang="zh-CN" dirty="0"/>
              <a:t>Data path Design </a:t>
            </a:r>
          </a:p>
          <a:p>
            <a:pPr lvl="1" eaLnBrk="1" hangingPunct="1"/>
            <a:r>
              <a:rPr lang="en-US" altLang="zh-CN" dirty="0"/>
              <a:t>Theoretical Performance  </a:t>
            </a:r>
          </a:p>
          <a:p>
            <a:pPr lvl="1" eaLnBrk="1" hangingPunct="1"/>
            <a:r>
              <a:rPr lang="en-US" altLang="zh-CN" dirty="0"/>
              <a:t>Pipeline Design</a:t>
            </a:r>
          </a:p>
          <a:p>
            <a:pPr lvl="1" eaLnBrk="1" hangingPunct="1"/>
            <a:r>
              <a:rPr lang="en-US" altLang="zh-CN" dirty="0"/>
              <a:t>Prefetch method </a:t>
            </a:r>
          </a:p>
          <a:p>
            <a:pPr eaLnBrk="1" hangingPunct="1"/>
            <a:r>
              <a:rPr lang="en-US" altLang="zh-CN" dirty="0"/>
              <a:t>Performance </a:t>
            </a:r>
          </a:p>
          <a:p>
            <a:pPr eaLnBrk="1" hangingPunct="1"/>
            <a:r>
              <a:rPr lang="en-US" altLang="zh-CN" dirty="0"/>
              <a:t>Future Work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545235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Auto tuning </a:t>
            </a:r>
            <a:r>
              <a:rPr lang="en-US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C9B03-5BE1-4511-AC15-56D68EF411D5}"/>
              </a:ext>
            </a:extLst>
          </p:cNvPr>
          <p:cNvSpPr txBox="1">
            <a:spLocks/>
          </p:cNvSpPr>
          <p:nvPr/>
        </p:nvSpPr>
        <p:spPr bwMode="auto">
          <a:xfrm>
            <a:off x="308227" y="655637"/>
            <a:ext cx="11452084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Tensile Conv use a Auto-Tuning method which is to auto generate convolution kernel code and achieve peak performance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For all WHCKN size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For different kernel size : 1x1(for now) 1x7 1x3 </a:t>
            </a:r>
            <a:r>
              <a:rPr lang="en-US" altLang="zh-CN" dirty="0" err="1"/>
              <a:t>etc</a:t>
            </a:r>
            <a:endParaRPr lang="en-US" altLang="zh-CN" dirty="0"/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For fusion opts: Conv (for now), bias, active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For different hardware ISA: gfx900 (for now) </a:t>
            </a:r>
          </a:p>
        </p:txBody>
      </p:sp>
    </p:spTree>
    <p:extLst>
      <p:ext uri="{BB962C8B-B14F-4D97-AF65-F5344CB8AC3E}">
        <p14:creationId xmlns:p14="http://schemas.microsoft.com/office/powerpoint/2010/main" val="230247815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545235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Auto tuning – framework  </a:t>
            </a:r>
            <a:r>
              <a:rPr lang="en-US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C9B03-5BE1-4511-AC15-56D68EF411D5}"/>
              </a:ext>
            </a:extLst>
          </p:cNvPr>
          <p:cNvSpPr txBox="1">
            <a:spLocks/>
          </p:cNvSpPr>
          <p:nvPr/>
        </p:nvSpPr>
        <p:spPr bwMode="auto">
          <a:xfrm>
            <a:off x="428514" y="655638"/>
            <a:ext cx="10442686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A generic framework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support multi problem type : convolution, </a:t>
            </a:r>
            <a:r>
              <a:rPr lang="en-US" altLang="zh-CN" dirty="0" err="1"/>
              <a:t>gemm</a:t>
            </a:r>
            <a:r>
              <a:rPr lang="en-US" altLang="zh-CN" dirty="0"/>
              <a:t> …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Support multiple solution type for one problem : (for convolution ): direct, </a:t>
            </a:r>
            <a:r>
              <a:rPr lang="en-US" altLang="zh-CN" dirty="0" err="1"/>
              <a:t>gemm</a:t>
            </a:r>
            <a:r>
              <a:rPr lang="en-US" altLang="zh-CN" dirty="0"/>
              <a:t>…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Support multiple kernel language : </a:t>
            </a:r>
            <a:r>
              <a:rPr lang="en-US" altLang="zh-CN" dirty="0" err="1"/>
              <a:t>opencl</a:t>
            </a:r>
            <a:r>
              <a:rPr lang="en-US" altLang="zh-CN" dirty="0"/>
              <a:t>, gas assembly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C++ interface </a:t>
            </a:r>
            <a:endParaRPr lang="en-US" dirty="0"/>
          </a:p>
          <a:p>
            <a:pPr marL="722313" lvl="1" indent="-34290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22313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28998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545235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Auto tuning – workflow </a:t>
            </a:r>
            <a:r>
              <a:rPr lang="en-US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C9B03-5BE1-4511-AC15-56D68EF411D5}"/>
              </a:ext>
            </a:extLst>
          </p:cNvPr>
          <p:cNvSpPr txBox="1">
            <a:spLocks/>
          </p:cNvSpPr>
          <p:nvPr/>
        </p:nvSpPr>
        <p:spPr bwMode="auto">
          <a:xfrm>
            <a:off x="5892057" y="655638"/>
            <a:ext cx="5557586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Each kernel will be run for 100 times and gather the average performance data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Configuration for the best performance will be record </a:t>
            </a:r>
            <a:endParaRPr lang="en-US" dirty="0"/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E718F91B-5B9E-4FAC-8DE3-05A34F285F6C}"/>
              </a:ext>
            </a:extLst>
          </p:cNvPr>
          <p:cNvSpPr/>
          <p:nvPr/>
        </p:nvSpPr>
        <p:spPr>
          <a:xfrm>
            <a:off x="1887978" y="691854"/>
            <a:ext cx="2857275" cy="472803"/>
          </a:xfrm>
          <a:prstGeom prst="flowChartAlternateProcess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/>
                </a:solidFill>
              </a:rPr>
              <a:t>Go through all problem parameters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F8AC8112-A724-44E0-964F-4BCBD0211ACB}"/>
              </a:ext>
            </a:extLst>
          </p:cNvPr>
          <p:cNvSpPr/>
          <p:nvPr/>
        </p:nvSpPr>
        <p:spPr>
          <a:xfrm>
            <a:off x="2109358" y="1487774"/>
            <a:ext cx="2414514" cy="323444"/>
          </a:xfrm>
          <a:prstGeom prst="flowChartAlternateProcess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/>
                </a:solidFill>
              </a:rPr>
              <a:t>Generate one problem handle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880D58F6-A59D-43C8-9E26-E7361130D158}"/>
              </a:ext>
            </a:extLst>
          </p:cNvPr>
          <p:cNvSpPr/>
          <p:nvPr/>
        </p:nvSpPr>
        <p:spPr>
          <a:xfrm>
            <a:off x="2109359" y="2142420"/>
            <a:ext cx="2414514" cy="323444"/>
          </a:xfrm>
          <a:prstGeom prst="flowChartAlternateProcess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/>
                </a:solidFill>
              </a:rPr>
              <a:t>Go through all solutions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37BB7108-53FA-41F0-BA0B-016AA1E95B18}"/>
              </a:ext>
            </a:extLst>
          </p:cNvPr>
          <p:cNvSpPr/>
          <p:nvPr/>
        </p:nvSpPr>
        <p:spPr>
          <a:xfrm>
            <a:off x="2109359" y="2788981"/>
            <a:ext cx="2414514" cy="336324"/>
          </a:xfrm>
          <a:prstGeom prst="flowChartAlternateProcess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/>
                </a:solidFill>
              </a:rPr>
              <a:t>Generate one solution handle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31EAC515-8621-4B68-B0DF-75784155DD00}"/>
              </a:ext>
            </a:extLst>
          </p:cNvPr>
          <p:cNvSpPr/>
          <p:nvPr/>
        </p:nvSpPr>
        <p:spPr>
          <a:xfrm>
            <a:off x="2109359" y="3480089"/>
            <a:ext cx="2414514" cy="336324"/>
          </a:xfrm>
          <a:prstGeom prst="flowChartAlternateProcess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/>
                </a:solidFill>
              </a:rPr>
              <a:t>Go through all kernel config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CCCB11-51EE-49E1-8597-BD0500A275EA}"/>
              </a:ext>
            </a:extLst>
          </p:cNvPr>
          <p:cNvCxnSpPr>
            <a:stCxn id="2" idx="2"/>
            <a:endCxn id="6" idx="0"/>
          </p:cNvCxnSpPr>
          <p:nvPr/>
        </p:nvCxnSpPr>
        <p:spPr>
          <a:xfrm flipH="1">
            <a:off x="3316615" y="1164657"/>
            <a:ext cx="1" cy="3231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6948A7-1A60-48C9-8213-20906DA7704A}"/>
              </a:ext>
            </a:extLst>
          </p:cNvPr>
          <p:cNvCxnSpPr/>
          <p:nvPr/>
        </p:nvCxnSpPr>
        <p:spPr>
          <a:xfrm flipH="1">
            <a:off x="3316614" y="1810891"/>
            <a:ext cx="1" cy="3231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9156A9-751B-42FE-B663-7C5CA49BD14F}"/>
              </a:ext>
            </a:extLst>
          </p:cNvPr>
          <p:cNvCxnSpPr/>
          <p:nvPr/>
        </p:nvCxnSpPr>
        <p:spPr>
          <a:xfrm flipH="1">
            <a:off x="3316613" y="2457125"/>
            <a:ext cx="1" cy="3231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439A75-BA04-4CC8-9F9A-9FBB70D2561A}"/>
              </a:ext>
            </a:extLst>
          </p:cNvPr>
          <p:cNvCxnSpPr/>
          <p:nvPr/>
        </p:nvCxnSpPr>
        <p:spPr>
          <a:xfrm flipH="1">
            <a:off x="3316612" y="3134044"/>
            <a:ext cx="1" cy="3231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2CE743-4E18-4C43-9C84-4D2913F52EE0}"/>
              </a:ext>
            </a:extLst>
          </p:cNvPr>
          <p:cNvCxnSpPr/>
          <p:nvPr/>
        </p:nvCxnSpPr>
        <p:spPr>
          <a:xfrm flipH="1">
            <a:off x="3305827" y="3816413"/>
            <a:ext cx="1" cy="3231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AB348D77-6A23-4010-A7A1-46249ABE8AD6}"/>
              </a:ext>
            </a:extLst>
          </p:cNvPr>
          <p:cNvSpPr/>
          <p:nvPr/>
        </p:nvSpPr>
        <p:spPr>
          <a:xfrm>
            <a:off x="2098570" y="4139530"/>
            <a:ext cx="2414514" cy="336324"/>
          </a:xfrm>
          <a:prstGeom prst="flowChartAlternateProcess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/>
                </a:solidFill>
              </a:rPr>
              <a:t>Generate kernel code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E453C9-489D-4BEC-A576-252E8FEAD34A}"/>
              </a:ext>
            </a:extLst>
          </p:cNvPr>
          <p:cNvCxnSpPr/>
          <p:nvPr/>
        </p:nvCxnSpPr>
        <p:spPr>
          <a:xfrm flipH="1">
            <a:off x="3305826" y="4484992"/>
            <a:ext cx="1" cy="3231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4E749012-AF32-4B46-AFCB-49571AD1D07A}"/>
              </a:ext>
            </a:extLst>
          </p:cNvPr>
          <p:cNvSpPr/>
          <p:nvPr/>
        </p:nvSpPr>
        <p:spPr>
          <a:xfrm>
            <a:off x="2098569" y="4809095"/>
            <a:ext cx="2414514" cy="336324"/>
          </a:xfrm>
          <a:prstGeom prst="flowChartAlternateProcess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/>
                </a:solidFill>
              </a:rPr>
              <a:t>Launch kernel   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5125FB-D80B-40F9-994B-3112A423CF56}"/>
              </a:ext>
            </a:extLst>
          </p:cNvPr>
          <p:cNvCxnSpPr/>
          <p:nvPr/>
        </p:nvCxnSpPr>
        <p:spPr>
          <a:xfrm flipH="1">
            <a:off x="3303303" y="5165312"/>
            <a:ext cx="1" cy="3231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0049829C-0337-4C6C-920F-7211A0249FBD}"/>
              </a:ext>
            </a:extLst>
          </p:cNvPr>
          <p:cNvSpPr/>
          <p:nvPr/>
        </p:nvSpPr>
        <p:spPr>
          <a:xfrm>
            <a:off x="2096046" y="5508322"/>
            <a:ext cx="2414514" cy="336324"/>
          </a:xfrm>
          <a:prstGeom prst="flowChartAlternateProcess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/>
                </a:solidFill>
              </a:rPr>
              <a:t>Gather performance data  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20047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1349429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Auto tuning – parameter space </a:t>
            </a:r>
            <a:r>
              <a:rPr lang="en-US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60B63D-51E7-4B1C-99E5-D4B63933D515}"/>
              </a:ext>
            </a:extLst>
          </p:cNvPr>
          <p:cNvSpPr txBox="1">
            <a:spLocks/>
          </p:cNvSpPr>
          <p:nvPr/>
        </p:nvSpPr>
        <p:spPr bwMode="auto">
          <a:xfrm>
            <a:off x="428513" y="655638"/>
            <a:ext cx="11000587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Problem parameter :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W/H: 7, 14, 28, 56, 112 …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Input / output channels : 64, 128, 256, 512, 1024, 2048 …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Batch size : 1, 2,</a:t>
            </a:r>
            <a:r>
              <a:rPr lang="zh-CN" altLang="en-US" dirty="0"/>
              <a:t> </a:t>
            </a:r>
            <a:r>
              <a:rPr lang="en-US" altLang="zh-CN" dirty="0"/>
              <a:t>4,</a:t>
            </a:r>
            <a:r>
              <a:rPr lang="zh-CN" altLang="en-US" dirty="0"/>
              <a:t> </a:t>
            </a:r>
            <a:r>
              <a:rPr lang="en-US" altLang="zh-CN" dirty="0"/>
              <a:t>8,</a:t>
            </a:r>
            <a:r>
              <a:rPr lang="zh-CN" altLang="en-US" dirty="0"/>
              <a:t> </a:t>
            </a:r>
            <a:r>
              <a:rPr lang="en-US" altLang="zh-CN" dirty="0"/>
              <a:t>16,</a:t>
            </a:r>
            <a:r>
              <a:rPr lang="zh-CN" altLang="en-US" dirty="0"/>
              <a:t> </a:t>
            </a:r>
            <a:r>
              <a:rPr lang="en-US" altLang="zh-CN" dirty="0"/>
              <a:t>32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Kernel parameter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 err="1"/>
              <a:t>K_out_maps</a:t>
            </a:r>
            <a:r>
              <a:rPr lang="en-US" altLang="zh-CN" dirty="0"/>
              <a:t> : 2, 4, 8, 16, 32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Local size : 64, 128,</a:t>
            </a:r>
            <a:r>
              <a:rPr lang="zh-CN" altLang="en-US" dirty="0"/>
              <a:t> </a:t>
            </a:r>
            <a:r>
              <a:rPr lang="en-US" altLang="zh-CN" dirty="0"/>
              <a:t>256,</a:t>
            </a:r>
            <a:r>
              <a:rPr lang="zh-CN" altLang="en-US" dirty="0"/>
              <a:t> </a:t>
            </a:r>
            <a:r>
              <a:rPr lang="en-US" altLang="zh-CN" dirty="0"/>
              <a:t>512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Kernel method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Buffer number : 2, 3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Prefetch method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Instruction : </a:t>
            </a:r>
            <a:r>
              <a:rPr lang="en-US" altLang="zh-CN" dirty="0" err="1"/>
              <a:t>buffer_load</a:t>
            </a:r>
            <a:r>
              <a:rPr lang="en-US" altLang="zh-CN" dirty="0"/>
              <a:t>_, </a:t>
            </a:r>
            <a:r>
              <a:rPr lang="en-US" altLang="zh-CN" dirty="0" err="1"/>
              <a:t>global_load</a:t>
            </a:r>
            <a:r>
              <a:rPr lang="en-US" altLang="zh-CN" dirty="0"/>
              <a:t>_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36833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4"/>
            <a:ext cx="11331798" cy="545234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Prefetch </a:t>
            </a:r>
            <a:endParaRPr lang="en-US" sz="2600" i="0" dirty="0">
              <a:solidFill>
                <a:schemeClr val="tx1"/>
              </a:solidFill>
              <a:latin typeface="Calibri" pitchFamily="34" charset="0"/>
              <a:cs typeface="+mj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C9B03-5BE1-4511-AC15-56D68EF411D5}"/>
              </a:ext>
            </a:extLst>
          </p:cNvPr>
          <p:cNvSpPr txBox="1">
            <a:spLocks/>
          </p:cNvSpPr>
          <p:nvPr/>
        </p:nvSpPr>
        <p:spPr bwMode="auto">
          <a:xfrm>
            <a:off x="308227" y="655637"/>
            <a:ext cx="11452084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Tensile Conv use a Prefetch method which could prefetch weight date into SQC before use them . Therefore the kernel will hit SQC during convolution loop work .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Image and weight loading could use different data path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Hide L1 and SQC latency as much as possible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42522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545235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</a:rPr>
              <a:t>Prefetch - </a:t>
            </a: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Workload design </a:t>
            </a:r>
            <a:endParaRPr lang="en-US" sz="2600" i="0" dirty="0">
              <a:solidFill>
                <a:schemeClr val="tx1"/>
              </a:solidFill>
              <a:latin typeface="Calibri" pitchFamily="34" charset="0"/>
              <a:cs typeface="+mj-cs"/>
            </a:endParaRPr>
          </a:p>
        </p:txBody>
      </p:sp>
      <p:sp>
        <p:nvSpPr>
          <p:cNvPr id="397" name="Content Placeholder 2">
            <a:extLst>
              <a:ext uri="{FF2B5EF4-FFF2-40B4-BE49-F238E27FC236}">
                <a16:creationId xmlns:a16="http://schemas.microsoft.com/office/drawing/2014/main" id="{616C4A05-3767-478A-9834-3DFFA3B3BEE7}"/>
              </a:ext>
            </a:extLst>
          </p:cNvPr>
          <p:cNvSpPr txBox="1">
            <a:spLocks/>
          </p:cNvSpPr>
          <p:nvPr/>
        </p:nvSpPr>
        <p:spPr bwMode="auto">
          <a:xfrm>
            <a:off x="428513" y="3633747"/>
            <a:ext cx="11331798" cy="282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Input data :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One thread: 1 pixel (W*H=1), ¼ ~ 1 input channel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Threads in one workgroup : 64 pixel , same input channels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Weight :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One thread: 2~32 output channels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Threads in one workgroup : same output channels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Output :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One thread : 1 pixel (W*H=1), 2~32 output channels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Threads in one workgroup : 64 pixel , same output channels </a:t>
            </a:r>
          </a:p>
          <a:p>
            <a:pPr marL="836476" lvl="2"/>
            <a:r>
              <a:rPr lang="en-US" altLang="zh-CN" dirty="0"/>
              <a:t> 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1B889D-B265-4662-979C-9FB4B7699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11" y="655638"/>
            <a:ext cx="9415202" cy="304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9855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393">
            <a:extLst>
              <a:ext uri="{FF2B5EF4-FFF2-40B4-BE49-F238E27FC236}">
                <a16:creationId xmlns:a16="http://schemas.microsoft.com/office/drawing/2014/main" id="{8DEDC167-C947-4E5B-A8A0-26BF58EEC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120" y="617869"/>
            <a:ext cx="6179191" cy="2643883"/>
          </a:xfrm>
          <a:prstGeom prst="rect">
            <a:avLst/>
          </a:prstGeom>
        </p:spPr>
      </p:pic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1349429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</a:rPr>
              <a:t>Prefetch - </a:t>
            </a: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Data path </a:t>
            </a:r>
            <a:endParaRPr lang="en-US" sz="2600" i="0" dirty="0">
              <a:solidFill>
                <a:schemeClr val="tx1"/>
              </a:solidFill>
              <a:latin typeface="Calibri" pitchFamily="34" charset="0"/>
              <a:cs typeface="+mj-cs"/>
            </a:endParaRPr>
          </a:p>
        </p:txBody>
      </p:sp>
      <p:pic>
        <p:nvPicPr>
          <p:cNvPr id="396" name="Picture 395">
            <a:extLst>
              <a:ext uri="{FF2B5EF4-FFF2-40B4-BE49-F238E27FC236}">
                <a16:creationId xmlns:a16="http://schemas.microsoft.com/office/drawing/2014/main" id="{36DC53FC-E1CC-463E-9B7D-77385C90B5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2" y="3680827"/>
            <a:ext cx="4276857" cy="2551652"/>
          </a:xfrm>
          <a:prstGeom prst="rect">
            <a:avLst/>
          </a:prstGeom>
        </p:spPr>
      </p:pic>
      <p:sp>
        <p:nvSpPr>
          <p:cNvPr id="397" name="Content Placeholder 2">
            <a:extLst>
              <a:ext uri="{FF2B5EF4-FFF2-40B4-BE49-F238E27FC236}">
                <a16:creationId xmlns:a16="http://schemas.microsoft.com/office/drawing/2014/main" id="{616C4A05-3767-478A-9834-3DFFA3B3BEE7}"/>
              </a:ext>
            </a:extLst>
          </p:cNvPr>
          <p:cNvSpPr txBox="1">
            <a:spLocks/>
          </p:cNvSpPr>
          <p:nvPr/>
        </p:nvSpPr>
        <p:spPr bwMode="auto">
          <a:xfrm>
            <a:off x="428513" y="941959"/>
            <a:ext cx="4924206" cy="2643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Input data :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L2 --&gt; L1 --&gt; register 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Weight</a:t>
            </a:r>
            <a:r>
              <a:rPr lang="zh-CN" altLang="en-US" dirty="0"/>
              <a:t>：</a:t>
            </a:r>
            <a:endParaRPr lang="en-US" altLang="zh-CN" dirty="0"/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L2 --&gt; SQC --&gt; register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2 adjacent CUs share one SQC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98" name="Content Placeholder 2">
            <a:extLst>
              <a:ext uri="{FF2B5EF4-FFF2-40B4-BE49-F238E27FC236}">
                <a16:creationId xmlns:a16="http://schemas.microsoft.com/office/drawing/2014/main" id="{B4CF2811-476D-4800-96A6-327C1D8C86C7}"/>
              </a:ext>
            </a:extLst>
          </p:cNvPr>
          <p:cNvSpPr txBox="1">
            <a:spLocks/>
          </p:cNvSpPr>
          <p:nvPr/>
        </p:nvSpPr>
        <p:spPr bwMode="auto">
          <a:xfrm>
            <a:off x="428513" y="3795789"/>
            <a:ext cx="4924206" cy="1654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Result store :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Register --&gt; L1 </a:t>
            </a:r>
            <a:r>
              <a:rPr lang="en-US" altLang="zh-CN" dirty="0">
                <a:sym typeface="Wingdings" panose="05000000000000000000" pitchFamily="2" charset="2"/>
              </a:rPr>
              <a:t>--&gt; L2</a:t>
            </a:r>
            <a:endParaRPr lang="en-US" altLang="zh-CN" dirty="0"/>
          </a:p>
          <a:p>
            <a:pPr marL="1179376" lvl="2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28953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02452"/>
            <a:ext cx="11331798" cy="545235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</a:rPr>
              <a:t>Prefetch - </a:t>
            </a: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Theoretical efficiency </a:t>
            </a:r>
            <a:endParaRPr lang="en-US" sz="2600" i="0" dirty="0">
              <a:solidFill>
                <a:schemeClr val="tx1"/>
              </a:solidFill>
              <a:latin typeface="Calibri" pitchFamily="34" charset="0"/>
              <a:cs typeface="+mj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C9B03-5BE1-4511-AC15-56D68EF411D5}"/>
              </a:ext>
            </a:extLst>
          </p:cNvPr>
          <p:cNvSpPr txBox="1">
            <a:spLocks/>
          </p:cNvSpPr>
          <p:nvPr/>
        </p:nvSpPr>
        <p:spPr bwMode="auto">
          <a:xfrm>
            <a:off x="428514" y="779062"/>
            <a:ext cx="10810045" cy="4381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Parameter :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Bandwidth : 4 DWORD per cycle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Operation : 64 opts per cycle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Formula (for one wave):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Image read : </a:t>
            </a:r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/>
              <a:t>L2 </a:t>
            </a:r>
            <a:r>
              <a:rPr lang="en-US" altLang="zh-CN" dirty="0">
                <a:sym typeface="Wingdings" panose="05000000000000000000" pitchFamily="2" charset="2"/>
              </a:rPr>
              <a:t>--&gt; L1 : </a:t>
            </a:r>
            <a:r>
              <a:rPr lang="en-US" altLang="zh-CN" dirty="0" err="1"/>
              <a:t>Pixel_maps</a:t>
            </a:r>
            <a:r>
              <a:rPr lang="en-US" altLang="zh-CN" dirty="0"/>
              <a:t> * C</a:t>
            </a:r>
            <a:r>
              <a:rPr lang="en-US" altLang="zh-CN" dirty="0">
                <a:sym typeface="Wingdings" panose="05000000000000000000" pitchFamily="2" charset="2"/>
              </a:rPr>
              <a:t> / 4</a:t>
            </a:r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>
                <a:sym typeface="Wingdings" panose="05000000000000000000" pitchFamily="2" charset="2"/>
              </a:rPr>
              <a:t>L1 --&gt; registers : </a:t>
            </a:r>
            <a:r>
              <a:rPr lang="en-US" altLang="zh-CN" dirty="0" err="1"/>
              <a:t>Pixel_maps</a:t>
            </a:r>
            <a:r>
              <a:rPr lang="en-US" altLang="zh-CN" dirty="0"/>
              <a:t> * C</a:t>
            </a:r>
            <a:r>
              <a:rPr lang="en-US" altLang="zh-CN" dirty="0">
                <a:sym typeface="Wingdings" panose="05000000000000000000" pitchFamily="2" charset="2"/>
              </a:rPr>
              <a:t> / 4</a:t>
            </a:r>
            <a:endParaRPr lang="en-US" altLang="zh-CN" dirty="0"/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Weight read : </a:t>
            </a:r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/>
              <a:t>L2 --&gt; SQC : C * </a:t>
            </a:r>
            <a:r>
              <a:rPr lang="en-US" altLang="zh-CN" dirty="0" err="1"/>
              <a:t>K_maps</a:t>
            </a:r>
            <a:r>
              <a:rPr lang="en-US" altLang="zh-CN" dirty="0"/>
              <a:t> / 2</a:t>
            </a:r>
            <a:r>
              <a:rPr lang="en-US" altLang="zh-CN" dirty="0">
                <a:sym typeface="Wingdings" panose="05000000000000000000" pitchFamily="2" charset="2"/>
              </a:rPr>
              <a:t> / 4</a:t>
            </a:r>
            <a:endParaRPr lang="en-US" altLang="zh-CN" dirty="0"/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SQC --&gt; registers : C * </a:t>
            </a:r>
            <a:r>
              <a:rPr lang="en-US" altLang="zh-CN" dirty="0" err="1"/>
              <a:t>K_maps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/ 4</a:t>
            </a:r>
            <a:endParaRPr lang="en-US" altLang="zh-CN" dirty="0"/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Result store :</a:t>
            </a:r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/>
              <a:t>Register --&gt; L1 : Pixel _maps * </a:t>
            </a:r>
            <a:r>
              <a:rPr lang="en-US" altLang="zh-CN" dirty="0" err="1"/>
              <a:t>K_maps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/ 4</a:t>
            </a:r>
            <a:endParaRPr lang="en-US" altLang="zh-CN" dirty="0"/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/>
              <a:t>L1 </a:t>
            </a:r>
            <a:r>
              <a:rPr lang="en-US" altLang="zh-CN" dirty="0">
                <a:sym typeface="Wingdings" panose="05000000000000000000" pitchFamily="2" charset="2"/>
              </a:rPr>
              <a:t>--&gt; L2 : </a:t>
            </a:r>
            <a:r>
              <a:rPr lang="en-US" altLang="zh-CN" dirty="0" err="1">
                <a:sym typeface="Wingdings" panose="05000000000000000000" pitchFamily="2" charset="2"/>
              </a:rPr>
              <a:t>Pixel</a:t>
            </a:r>
            <a:r>
              <a:rPr lang="en-US" altLang="zh-CN" dirty="0" err="1"/>
              <a:t>_maps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* </a:t>
            </a:r>
            <a:r>
              <a:rPr lang="en-US" altLang="zh-CN" dirty="0" err="1">
                <a:sym typeface="Wingdings" panose="05000000000000000000" pitchFamily="2" charset="2"/>
              </a:rPr>
              <a:t>K_maps</a:t>
            </a:r>
            <a:r>
              <a:rPr lang="en-US" altLang="zh-CN" dirty="0">
                <a:sym typeface="Wingdings" panose="05000000000000000000" pitchFamily="2" charset="2"/>
              </a:rPr>
              <a:t> / 4</a:t>
            </a:r>
            <a:endParaRPr lang="en-US" altLang="zh-CN" dirty="0"/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Calculation : </a:t>
            </a:r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 err="1"/>
              <a:t>Pixel_maps</a:t>
            </a:r>
            <a:r>
              <a:rPr lang="en-US" altLang="zh-CN" dirty="0"/>
              <a:t> * C _maps * </a:t>
            </a:r>
            <a:r>
              <a:rPr lang="en-US" altLang="zh-CN" dirty="0" err="1"/>
              <a:t>K_maps</a:t>
            </a:r>
            <a:r>
              <a:rPr lang="en-US" altLang="zh-CN" dirty="0"/>
              <a:t> / 64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0A4F70-738D-4957-9DF7-B29F00D69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43" y="5802101"/>
            <a:ext cx="10252863" cy="55367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1D912E-D172-4731-830D-57D925CD28EB}"/>
              </a:ext>
            </a:extLst>
          </p:cNvPr>
          <p:cNvSpPr txBox="1">
            <a:spLocks/>
          </p:cNvSpPr>
          <p:nvPr/>
        </p:nvSpPr>
        <p:spPr bwMode="auto">
          <a:xfrm>
            <a:off x="519743" y="5478448"/>
            <a:ext cx="10810045" cy="3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sz="1400" dirty="0"/>
              <a:t>e.g. W*H*C*K*N = 7*7*192*64*16: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530747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545235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</a:rPr>
              <a:t>Prefetch - </a:t>
            </a: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Pipeline design </a:t>
            </a:r>
            <a:endParaRPr lang="en-US" sz="2600" i="0" dirty="0">
              <a:solidFill>
                <a:schemeClr val="tx1"/>
              </a:solidFill>
              <a:latin typeface="Calibri" pitchFamily="34" charset="0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F4EAB-19BE-4B3E-9998-6D6C541BD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" y="1116914"/>
            <a:ext cx="11332709" cy="1349429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40D8C26-A7CE-462D-B4C6-F8657C985C3D}"/>
              </a:ext>
            </a:extLst>
          </p:cNvPr>
          <p:cNvSpPr txBox="1">
            <a:spLocks/>
          </p:cNvSpPr>
          <p:nvPr/>
        </p:nvSpPr>
        <p:spPr bwMode="auto">
          <a:xfrm>
            <a:off x="236013" y="2576222"/>
            <a:ext cx="11332708" cy="388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Hide SQC latency for weight loading :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fetch 16 DWORD before each Conv loop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fetch 16 cache lines from L2 to SQC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using </a:t>
            </a:r>
            <a:r>
              <a:rPr lang="en-US" altLang="zh-CN" dirty="0" err="1"/>
              <a:t>s_load_dword</a:t>
            </a:r>
            <a:r>
              <a:rPr lang="en-US" altLang="zh-CN" dirty="0"/>
              <a:t> instruction but not wait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Hide L1 latency for input image loading :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Using dual-buffer: Conv buffer B while loading buffer 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3CD7F2-0D26-48AA-94E7-DF806AE4BA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045" y="2626197"/>
            <a:ext cx="5866177" cy="12661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9E70C4-9629-433C-8AFB-B976FB48E1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094" y="5008722"/>
            <a:ext cx="6444743" cy="126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4736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545235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Performance   </a:t>
            </a:r>
            <a:endParaRPr lang="en-US" sz="2600" i="0" dirty="0">
              <a:solidFill>
                <a:schemeClr val="tx1"/>
              </a:solidFill>
              <a:latin typeface="Calibri" pitchFamily="34" charset="0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CB48F7-F342-4386-A3EE-F991072B3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56" y="2896192"/>
            <a:ext cx="5397309" cy="15960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42FB58-0919-457B-A287-CAE50770AD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088" y="2922714"/>
            <a:ext cx="5390620" cy="15960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EB2CD5-C423-4963-B18E-9A0FA0193D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088" y="1089426"/>
            <a:ext cx="2712252" cy="16418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4E4E8E6-AEF6-48E0-8211-1D7A2AC062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5" y="4806894"/>
            <a:ext cx="10886193" cy="494265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40732AD-FDDC-46E0-B6BD-EBCBEB8DC59F}"/>
              </a:ext>
            </a:extLst>
          </p:cNvPr>
          <p:cNvSpPr txBox="1">
            <a:spLocks/>
          </p:cNvSpPr>
          <p:nvPr/>
        </p:nvSpPr>
        <p:spPr bwMode="auto">
          <a:xfrm>
            <a:off x="465688" y="4535502"/>
            <a:ext cx="4597201" cy="319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250" indent="-342900">
              <a:buFont typeface="Arial" panose="020B0604020202020204" pitchFamily="34" charset="0"/>
              <a:buChar char="•"/>
            </a:pPr>
            <a:r>
              <a:rPr lang="en-US" altLang="zh-CN" sz="1400" dirty="0"/>
              <a:t>X Axial ID meaning (different W/H combination ): </a:t>
            </a:r>
            <a:endParaRPr lang="en-US" sz="14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4EB9784-C092-422C-B2E0-713A7732FCD3}"/>
              </a:ext>
            </a:extLst>
          </p:cNvPr>
          <p:cNvSpPr txBox="1">
            <a:spLocks/>
          </p:cNvSpPr>
          <p:nvPr/>
        </p:nvSpPr>
        <p:spPr bwMode="auto">
          <a:xfrm>
            <a:off x="428514" y="5332454"/>
            <a:ext cx="10886194" cy="1136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Best efficiency  is </a:t>
            </a:r>
            <a:r>
              <a:rPr lang="en-US" altLang="zh-CN" sz="2000" dirty="0">
                <a:solidFill>
                  <a:srgbClr val="ED1C24"/>
                </a:solidFill>
              </a:rPr>
              <a:t>77.5%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Performance drop while input channels growing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Performance drop for small batch size 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4F2980B-C3C0-4693-A53C-FC2E02D92F4D}"/>
              </a:ext>
            </a:extLst>
          </p:cNvPr>
          <p:cNvSpPr txBox="1">
            <a:spLocks/>
          </p:cNvSpPr>
          <p:nvPr/>
        </p:nvSpPr>
        <p:spPr bwMode="auto">
          <a:xfrm>
            <a:off x="250713" y="655638"/>
            <a:ext cx="5543397" cy="1925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Efficiency for large WHNCK range: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sz="1800" dirty="0"/>
              <a:t>W/H = 7, 14, 28, 56, 112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sz="1800" dirty="0"/>
              <a:t>C / K = 64, 128, 256, 1024, 2048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sz="1800" dirty="0"/>
              <a:t>N = 1, 2, 4, 8, 16, 32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Run 100 times for each case , and gathered  average performance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3738988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545235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Performance   </a:t>
            </a:r>
            <a:endParaRPr lang="en-US" sz="2600" i="0" dirty="0">
              <a:solidFill>
                <a:schemeClr val="tx1"/>
              </a:solidFill>
              <a:latin typeface="Calibri" pitchFamily="34" charset="0"/>
              <a:cs typeface="+mj-cs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40732AD-FDDC-46E0-B6BD-EBCBEB8DC59F}"/>
              </a:ext>
            </a:extLst>
          </p:cNvPr>
          <p:cNvSpPr txBox="1">
            <a:spLocks/>
          </p:cNvSpPr>
          <p:nvPr/>
        </p:nvSpPr>
        <p:spPr bwMode="auto">
          <a:xfrm>
            <a:off x="2294487" y="7258368"/>
            <a:ext cx="2895133" cy="375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sz="1400" dirty="0"/>
              <a:t>X Axial ID meaning : </a:t>
            </a:r>
            <a:endParaRPr lang="en-US" sz="1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4F2980B-C3C0-4693-A53C-FC2E02D92F4D}"/>
              </a:ext>
            </a:extLst>
          </p:cNvPr>
          <p:cNvSpPr txBox="1">
            <a:spLocks/>
          </p:cNvSpPr>
          <p:nvPr/>
        </p:nvSpPr>
        <p:spPr bwMode="auto">
          <a:xfrm>
            <a:off x="250713" y="655638"/>
            <a:ext cx="7112613" cy="789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Efficiency for typical net work compared with </a:t>
            </a:r>
            <a:r>
              <a:rPr lang="en-US" altLang="zh-CN" sz="2000" dirty="0" err="1"/>
              <a:t>miopen</a:t>
            </a:r>
            <a:r>
              <a:rPr lang="en-US" altLang="zh-CN" sz="2000" dirty="0"/>
              <a:t> 1.3: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sz="1800" dirty="0"/>
              <a:t>Performance drop for large input channels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CFA1A-ADF1-4DDA-BC41-CD14A77EA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95" y="1450069"/>
            <a:ext cx="4901163" cy="3189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BFA809-A9E8-43A9-875E-8CE7645EE9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77" y="5091201"/>
            <a:ext cx="11760189" cy="1189713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DA86543-B8AD-4AF0-80D9-976E49112E69}"/>
              </a:ext>
            </a:extLst>
          </p:cNvPr>
          <p:cNvSpPr txBox="1">
            <a:spLocks/>
          </p:cNvSpPr>
          <p:nvPr/>
        </p:nvSpPr>
        <p:spPr bwMode="auto">
          <a:xfrm>
            <a:off x="414341" y="4771454"/>
            <a:ext cx="4831426" cy="375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250" indent="-342900">
              <a:buFont typeface="Arial" panose="020B0604020202020204" pitchFamily="34" charset="0"/>
              <a:buChar char="•"/>
            </a:pPr>
            <a:r>
              <a:rPr lang="en-US" altLang="zh-CN" sz="1400" dirty="0"/>
              <a:t>X Axial ID meaning (different NCHWK combination ):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6674525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3C03441-5C28-4647-A4B2-3133AAA931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277" y="896338"/>
            <a:ext cx="4621034" cy="1059144"/>
          </a:xfrm>
          <a:prstGeom prst="rect">
            <a:avLst/>
          </a:prstGeom>
        </p:spPr>
      </p:pic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545235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Performance   </a:t>
            </a:r>
            <a:endParaRPr lang="en-US" sz="2600" i="0" dirty="0">
              <a:solidFill>
                <a:schemeClr val="tx1"/>
              </a:solidFill>
              <a:latin typeface="Calibri" pitchFamily="34" charset="0"/>
              <a:cs typeface="+mj-cs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40732AD-FDDC-46E0-B6BD-EBCBEB8DC59F}"/>
              </a:ext>
            </a:extLst>
          </p:cNvPr>
          <p:cNvSpPr txBox="1">
            <a:spLocks/>
          </p:cNvSpPr>
          <p:nvPr/>
        </p:nvSpPr>
        <p:spPr bwMode="auto">
          <a:xfrm>
            <a:off x="428514" y="3637148"/>
            <a:ext cx="5437298" cy="677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65163" lvl="1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Thread trace with prefetch : 102296 cycle</a:t>
            </a:r>
          </a:p>
          <a:p>
            <a:pPr marL="1122226" lvl="2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Weight hit in SQC for each Conv  loop 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BAFFDD-7745-4C56-8CC5-C9069FD53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4" y="1255136"/>
            <a:ext cx="7065790" cy="17802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E529FE-BD78-44ED-B18C-48EDC7BEBC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5" y="4314469"/>
            <a:ext cx="7212682" cy="1872443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1736B97-6644-47CB-8BD5-EEF028477F19}"/>
              </a:ext>
            </a:extLst>
          </p:cNvPr>
          <p:cNvSpPr txBox="1">
            <a:spLocks/>
          </p:cNvSpPr>
          <p:nvPr/>
        </p:nvSpPr>
        <p:spPr bwMode="auto">
          <a:xfrm>
            <a:off x="428513" y="671087"/>
            <a:ext cx="5437299" cy="632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65163" lvl="1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Thread trace without  prefetch : 169528 cycle </a:t>
            </a:r>
          </a:p>
          <a:p>
            <a:pPr marL="1122226" lvl="2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Weight miss in SQC for each Conv  loop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A13F51-B4E6-4FF6-BF9E-10AA6380C593}"/>
              </a:ext>
            </a:extLst>
          </p:cNvPr>
          <p:cNvSpPr/>
          <p:nvPr/>
        </p:nvSpPr>
        <p:spPr>
          <a:xfrm>
            <a:off x="2901382" y="2352065"/>
            <a:ext cx="2120054" cy="55529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ED1C24"/>
                </a:solidFill>
              </a:rPr>
              <a:t>169528 </a:t>
            </a:r>
            <a:r>
              <a:rPr lang="en-US" altLang="zh-CN" sz="2400" dirty="0">
                <a:solidFill>
                  <a:srgbClr val="ED1C24"/>
                </a:solidFill>
              </a:rPr>
              <a:t>cycle </a:t>
            </a:r>
            <a:endParaRPr lang="en-US" sz="2400" dirty="0">
              <a:solidFill>
                <a:srgbClr val="ED1C24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0E6BEA-DF8A-4F7E-BA2C-EA0A2F8675B7}"/>
              </a:ext>
            </a:extLst>
          </p:cNvPr>
          <p:cNvCxnSpPr>
            <a:cxnSpLocks/>
          </p:cNvCxnSpPr>
          <p:nvPr/>
        </p:nvCxnSpPr>
        <p:spPr>
          <a:xfrm>
            <a:off x="4817568" y="2677687"/>
            <a:ext cx="206399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7B2DC9-1C11-454D-8C9A-8DEC9EE99B04}"/>
              </a:ext>
            </a:extLst>
          </p:cNvPr>
          <p:cNvCxnSpPr>
            <a:cxnSpLocks/>
          </p:cNvCxnSpPr>
          <p:nvPr/>
        </p:nvCxnSpPr>
        <p:spPr>
          <a:xfrm flipH="1">
            <a:off x="1470581" y="2668260"/>
            <a:ext cx="160255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9F2D04-E0ED-4F94-B2CD-7AEBF5368962}"/>
              </a:ext>
            </a:extLst>
          </p:cNvPr>
          <p:cNvSpPr/>
          <p:nvPr/>
        </p:nvSpPr>
        <p:spPr>
          <a:xfrm>
            <a:off x="5768984" y="1255136"/>
            <a:ext cx="554030" cy="1048051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B3D9E8B5-FC42-41BF-A923-C55E9ECE7CB8}"/>
              </a:ext>
            </a:extLst>
          </p:cNvPr>
          <p:cNvSpPr/>
          <p:nvPr/>
        </p:nvSpPr>
        <p:spPr>
          <a:xfrm>
            <a:off x="8540685" y="950050"/>
            <a:ext cx="2997724" cy="897604"/>
          </a:xfrm>
          <a:prstGeom prst="wedgeRoundRectCallout">
            <a:avLst>
              <a:gd name="adj1" fmla="val -122804"/>
              <a:gd name="adj2" fmla="val 52239"/>
              <a:gd name="adj3" fmla="val 16667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F50369-81AB-4DF0-8DD1-5C66D652C5EB}"/>
              </a:ext>
            </a:extLst>
          </p:cNvPr>
          <p:cNvSpPr/>
          <p:nvPr/>
        </p:nvSpPr>
        <p:spPr>
          <a:xfrm>
            <a:off x="3269029" y="5421776"/>
            <a:ext cx="2120054" cy="55529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ED1C24"/>
                </a:solidFill>
              </a:rPr>
              <a:t>102296 </a:t>
            </a:r>
            <a:r>
              <a:rPr lang="en-US" altLang="zh-CN" sz="2400" dirty="0">
                <a:solidFill>
                  <a:srgbClr val="ED1C24"/>
                </a:solidFill>
              </a:rPr>
              <a:t>cycle </a:t>
            </a:r>
            <a:endParaRPr lang="en-US" sz="2400" dirty="0">
              <a:solidFill>
                <a:srgbClr val="ED1C24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E0439C0-255A-4707-BD2D-1DEA7A315F7F}"/>
              </a:ext>
            </a:extLst>
          </p:cNvPr>
          <p:cNvCxnSpPr>
            <a:cxnSpLocks/>
          </p:cNvCxnSpPr>
          <p:nvPr/>
        </p:nvCxnSpPr>
        <p:spPr>
          <a:xfrm>
            <a:off x="5185215" y="5747398"/>
            <a:ext cx="206399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998D171-3376-4FD8-9A92-7ABE184FC7A7}"/>
              </a:ext>
            </a:extLst>
          </p:cNvPr>
          <p:cNvCxnSpPr>
            <a:cxnSpLocks/>
          </p:cNvCxnSpPr>
          <p:nvPr/>
        </p:nvCxnSpPr>
        <p:spPr>
          <a:xfrm flipH="1">
            <a:off x="1583703" y="5759777"/>
            <a:ext cx="1885361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3C89F28F-7E8A-4FD3-A46E-7B6C391A0E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277" y="3637148"/>
            <a:ext cx="4660620" cy="1312790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304719F-E761-44CE-9CE6-71CA43BAC3BD}"/>
              </a:ext>
            </a:extLst>
          </p:cNvPr>
          <p:cNvSpPr/>
          <p:nvPr/>
        </p:nvSpPr>
        <p:spPr>
          <a:xfrm>
            <a:off x="5326144" y="4276309"/>
            <a:ext cx="292232" cy="1048051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23EFDF04-E433-4318-B1DD-BCBC1C3A3E74}"/>
              </a:ext>
            </a:extLst>
          </p:cNvPr>
          <p:cNvSpPr/>
          <p:nvPr/>
        </p:nvSpPr>
        <p:spPr>
          <a:xfrm>
            <a:off x="8800294" y="3827507"/>
            <a:ext cx="2997724" cy="897604"/>
          </a:xfrm>
          <a:prstGeom prst="wedgeRoundRectCallout">
            <a:avLst>
              <a:gd name="adj1" fmla="val -155508"/>
              <a:gd name="adj2" fmla="val 65892"/>
              <a:gd name="adj3" fmla="val 16667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E2549E-32B1-47F1-83FC-C2602138F99A}"/>
              </a:ext>
            </a:extLst>
          </p:cNvPr>
          <p:cNvSpPr/>
          <p:nvPr/>
        </p:nvSpPr>
        <p:spPr>
          <a:xfrm>
            <a:off x="9162098" y="4936992"/>
            <a:ext cx="2120054" cy="55529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ED1C24"/>
                </a:solidFill>
              </a:rPr>
              <a:t>SQC </a:t>
            </a:r>
            <a:r>
              <a:rPr lang="en-US" altLang="zh-CN" dirty="0">
                <a:solidFill>
                  <a:srgbClr val="ED1C24"/>
                </a:solidFill>
              </a:rPr>
              <a:t>hit : </a:t>
            </a:r>
            <a:r>
              <a:rPr lang="en-US" dirty="0">
                <a:solidFill>
                  <a:srgbClr val="ED1C24"/>
                </a:solidFill>
              </a:rPr>
              <a:t>3144 </a:t>
            </a:r>
            <a:r>
              <a:rPr lang="en-US" altLang="zh-CN" dirty="0">
                <a:solidFill>
                  <a:srgbClr val="ED1C24"/>
                </a:solidFill>
              </a:rPr>
              <a:t>cycle </a:t>
            </a:r>
            <a:endParaRPr lang="en-US" dirty="0">
              <a:solidFill>
                <a:srgbClr val="ED1C24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2E06D8-D2B6-4806-82D1-AAD290B73162}"/>
              </a:ext>
            </a:extLst>
          </p:cNvPr>
          <p:cNvSpPr/>
          <p:nvPr/>
        </p:nvSpPr>
        <p:spPr>
          <a:xfrm>
            <a:off x="8800294" y="1968738"/>
            <a:ext cx="2299280" cy="55529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ED1C24"/>
                </a:solidFill>
              </a:rPr>
              <a:t>SQC </a:t>
            </a:r>
            <a:r>
              <a:rPr lang="en-US" altLang="zh-CN" dirty="0">
                <a:solidFill>
                  <a:srgbClr val="ED1C24"/>
                </a:solidFill>
              </a:rPr>
              <a:t>miss: </a:t>
            </a:r>
            <a:r>
              <a:rPr lang="en-US" dirty="0">
                <a:solidFill>
                  <a:srgbClr val="ED1C24"/>
                </a:solidFill>
              </a:rPr>
              <a:t>6488 </a:t>
            </a:r>
            <a:r>
              <a:rPr lang="en-US" altLang="zh-CN" dirty="0">
                <a:solidFill>
                  <a:srgbClr val="ED1C24"/>
                </a:solidFill>
              </a:rPr>
              <a:t>cycle </a:t>
            </a:r>
            <a:endParaRPr lang="en-US" dirty="0">
              <a:solidFill>
                <a:srgbClr val="ED1C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13260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4"/>
            <a:ext cx="11331798" cy="545234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Future work  </a:t>
            </a:r>
            <a:r>
              <a:rPr lang="en-US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C9B03-5BE1-4511-AC15-56D68EF411D5}"/>
              </a:ext>
            </a:extLst>
          </p:cNvPr>
          <p:cNvSpPr txBox="1">
            <a:spLocks/>
          </p:cNvSpPr>
          <p:nvPr/>
        </p:nvSpPr>
        <p:spPr bwMode="auto">
          <a:xfrm>
            <a:off x="308227" y="655637"/>
            <a:ext cx="11331798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More hardware and ISA support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More  tuning parameters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More convolution kernel size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More date type support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Fusion option support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New prefetch method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20346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AMD WIDE WHT">
  <a:themeElements>
    <a:clrScheme name="AMD Theme">
      <a:dk1>
        <a:sysClr val="windowText" lastClr="000000"/>
      </a:dk1>
      <a:lt1>
        <a:sysClr val="window" lastClr="FFFFFF"/>
      </a:lt1>
      <a:dk2>
        <a:srgbClr val="FFFFFF"/>
      </a:dk2>
      <a:lt2>
        <a:srgbClr val="000000"/>
      </a:lt2>
      <a:accent1>
        <a:srgbClr val="F26522"/>
      </a:accent1>
      <a:accent2>
        <a:srgbClr val="ED1C24"/>
      </a:accent2>
      <a:accent3>
        <a:srgbClr val="00AAB5"/>
      </a:accent3>
      <a:accent4>
        <a:srgbClr val="A6CE39"/>
      </a:accent4>
      <a:accent5>
        <a:srgbClr val="9650A0"/>
      </a:accent5>
      <a:accent6>
        <a:srgbClr val="C7C8CA"/>
      </a:accent6>
      <a:hlink>
        <a:srgbClr val="A6CE39"/>
      </a:hlink>
      <a:folHlink>
        <a:srgbClr val="C7C8C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fontAlgn="auto">
          <a:spcBef>
            <a:spcPts val="0"/>
          </a:spcBef>
          <a:spcAft>
            <a:spcPts val="0"/>
          </a:spcAft>
          <a:defRPr sz="3200" dirty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anchor="ctr" anchorCtr="0"/>
      <a:lstStyle>
        <a:defPPr marL="0" marR="0" indent="0" algn="l" defTabSz="914400" rtl="0" eaLnBrk="1" fontAlgn="auto" latinLnBrk="0" hangingPunct="1">
          <a:lnSpc>
            <a:spcPct val="90000"/>
          </a:lnSpc>
          <a:spcBef>
            <a:spcPts val="300"/>
          </a:spcBef>
          <a:spcAft>
            <a:spcPts val="300"/>
          </a:spcAft>
          <a:buClr>
            <a:srgbClr val="FFFFFF"/>
          </a:buClr>
          <a:buSzTx/>
          <a:buFont typeface="Wingdings 3" pitchFamily="18" charset="2"/>
          <a:buNone/>
          <a:tabLst/>
          <a:defRPr kumimoji="0" sz="2000" b="0" i="0" u="none" strike="noStrike" kern="1200" cap="none" spc="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+mj-lt"/>
            <a:ea typeface="MS PGothic" pitchFamily="34" charset="-128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AMD STANDARD WHT - ver6">
  <a:themeElements>
    <a:clrScheme name="AMD Theme">
      <a:dk1>
        <a:sysClr val="windowText" lastClr="000000"/>
      </a:dk1>
      <a:lt1>
        <a:sysClr val="window" lastClr="FFFFFF"/>
      </a:lt1>
      <a:dk2>
        <a:srgbClr val="FFFFFF"/>
      </a:dk2>
      <a:lt2>
        <a:srgbClr val="000000"/>
      </a:lt2>
      <a:accent1>
        <a:srgbClr val="F26522"/>
      </a:accent1>
      <a:accent2>
        <a:srgbClr val="ED1C24"/>
      </a:accent2>
      <a:accent3>
        <a:srgbClr val="00AAB5"/>
      </a:accent3>
      <a:accent4>
        <a:srgbClr val="A6CE39"/>
      </a:accent4>
      <a:accent5>
        <a:srgbClr val="9650A0"/>
      </a:accent5>
      <a:accent6>
        <a:srgbClr val="C7C8CA"/>
      </a:accent6>
      <a:hlink>
        <a:srgbClr val="A6CE39"/>
      </a:hlink>
      <a:folHlink>
        <a:srgbClr val="C7C8C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fontAlgn="auto">
          <a:spcBef>
            <a:spcPts val="0"/>
          </a:spcBef>
          <a:spcAft>
            <a:spcPts val="0"/>
          </a:spcAft>
          <a:defRPr sz="3200" dirty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anchor="ctr" anchorCtr="0"/>
      <a:lstStyle>
        <a:defPPr marL="0" marR="0" indent="0" algn="l" defTabSz="914400" rtl="0" eaLnBrk="1" fontAlgn="auto" latinLnBrk="0" hangingPunct="1">
          <a:lnSpc>
            <a:spcPct val="90000"/>
          </a:lnSpc>
          <a:spcBef>
            <a:spcPts val="300"/>
          </a:spcBef>
          <a:spcAft>
            <a:spcPts val="300"/>
          </a:spcAft>
          <a:buClr>
            <a:srgbClr val="FFFFFF"/>
          </a:buClr>
          <a:buSzTx/>
          <a:buFont typeface="Wingdings 3" pitchFamily="18" charset="2"/>
          <a:buNone/>
          <a:tabLst/>
          <a:defRPr kumimoji="0" sz="2000" b="0" i="0" u="none" strike="noStrike" kern="1200" cap="none" spc="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+mj-lt"/>
            <a:ea typeface="MS PGothic" pitchFamily="34" charset="-128"/>
            <a:cs typeface="+mn-cs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ontrol xmlns="http://schemas.microsoft.com/VisualStudio/2011/storyboarding/control">
  <Id Name="f509eb23-35dd-452e-b603-87256e73c68f" Revision="1" Stencil="System.MyShapes" StencilVersion="1.0"/>
</Control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11CDCC-0C50-48CC-AFCC-3B9750DC97C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6B1703-BB68-4AC9-A006-EA4DE4859361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7023AC22-A3B2-4C36-B05A-9DBED1C5B9A6}">
  <ds:schemaRefs>
    <ds:schemaRef ds:uri="http://purl.org/dc/terms/"/>
    <ds:schemaRef ds:uri="http://www.w3.org/XML/1998/namespace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AMD WIDE WHT</Template>
  <TotalTime>7807</TotalTime>
  <Words>828</Words>
  <Application>Microsoft Office PowerPoint</Application>
  <PresentationFormat>Custom</PresentationFormat>
  <Paragraphs>131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宋体</vt:lpstr>
      <vt:lpstr>Arial</vt:lpstr>
      <vt:lpstr>Calibri</vt:lpstr>
      <vt:lpstr>Wingdings</vt:lpstr>
      <vt:lpstr>Wingdings 3</vt:lpstr>
      <vt:lpstr>AMD WIDE WHT</vt:lpstr>
      <vt:lpstr>AMD STANDARD WHT - ver6</vt:lpstr>
      <vt:lpstr>TensileConv</vt:lpstr>
      <vt:lpstr>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Advanced Micro Devices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Advanced Micro Devices</dc:creator>
  <cp:lastModifiedBy>Wang, Fei</cp:lastModifiedBy>
  <cp:revision>564</cp:revision>
  <cp:lastPrinted>2013-07-20T14:31:32Z</cp:lastPrinted>
  <dcterms:created xsi:type="dcterms:W3CDTF">2013-09-12T03:23:02Z</dcterms:created>
  <dcterms:modified xsi:type="dcterms:W3CDTF">2018-09-21T11:52:38Z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0x01010064C402F5ED259A43B06C64BCBDB7DBD4</vt:lpwstr>
  </property>
</Properties>
</file>